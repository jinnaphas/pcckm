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customXml/item1.xml" ContentType="application/xml"/>
  <Override PartName="/customXml/itemProps1.xml" ContentType="application/vnd.openxmlformats-officedocument.customXmlProperties+xml"/>
  <Override PartName="/customXml/item2.xml" ContentType="application/xml"/>
  <Override PartName="/customXml/itemProps2.xml" ContentType="application/vnd.openxmlformats-officedocument.customXmlProperties+xml"/>
  <Override PartName="/customXml/item3.xml" ContentType="application/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8926c54b625143bf" Type="http://schemas.openxmlformats.org/package/2006/relationships/metadata/core-properties" Target="/docProps/core.xml"/><Relationship Id="Ra22d37e87e574a96" Type="http://schemas.openxmlformats.org/officeDocument/2006/relationships/officeDocument" Target="/ppt/presentation.xml"/><Relationship Id="rId1" Type="http://schemas.openxmlformats.org/officeDocument/2006/relationships/custom-properties" Target="docProps/custom.xml"/><Relationship Id="Rac2cf4a0904b4cc3" Type="http://schemas.openxmlformats.org/officeDocument/2006/relationships/extended-properties" Target="/docProps/app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d0c0fdcf6ad4709"/>
  </p:sldMasterIdLst>
  <p:notesMasterIdLst>
    <p:notesMasterId xmlns:r="http://schemas.openxmlformats.org/officeDocument/2006/relationships" r:id="Re13a7b8146e14747"/>
  </p:notesMasterIdLst>
  <p:sldIdLst>
    <p:sldId xmlns:r="http://schemas.openxmlformats.org/officeDocument/2006/relationships" id="256" r:id="Rc4e4d20b1da5446f"/>
    <p:sldId xmlns:r="http://schemas.openxmlformats.org/officeDocument/2006/relationships" id="257" r:id="R6948fbd8bb74400e"/>
    <p:sldId xmlns:r="http://schemas.openxmlformats.org/officeDocument/2006/relationships" id="258" r:id="Rb82cfaac4db443c2"/>
    <p:sldId xmlns:r="http://schemas.openxmlformats.org/officeDocument/2006/relationships" id="259" r:id="Rb5732932b59b4a62"/>
    <p:sldId xmlns:r="http://schemas.openxmlformats.org/officeDocument/2006/relationships" id="260" r:id="R3c86962245b54367"/>
    <p:sldId xmlns:r="http://schemas.openxmlformats.org/officeDocument/2006/relationships" id="261" r:id="R7b10033a7bae45e0"/>
    <p:sldId xmlns:r="http://schemas.openxmlformats.org/officeDocument/2006/relationships" id="262" r:id="R794ed7bb96014924"/>
    <p:sldId xmlns:r="http://schemas.openxmlformats.org/officeDocument/2006/relationships" id="263" r:id="R09f06ce265e44360"/>
    <p:sldId xmlns:r="http://schemas.openxmlformats.org/officeDocument/2006/relationships" id="264" r:id="R171a690410ee42fd"/>
    <p:sldId xmlns:r="http://schemas.openxmlformats.org/officeDocument/2006/relationships" id="265" r:id="Ra67bde22deb549de"/>
    <p:sldId xmlns:r="http://schemas.openxmlformats.org/officeDocument/2006/relationships" id="266" r:id="R9a1bb5c0c0d34833"/>
    <p:sldId xmlns:r="http://schemas.openxmlformats.org/officeDocument/2006/relationships" id="267" r:id="R75ff1ac11b1d47a7"/>
    <p:sldId xmlns:r="http://schemas.openxmlformats.org/officeDocument/2006/relationships" id="268" r:id="Re5202d3ed487414a"/>
    <p:sldId xmlns:r="http://schemas.openxmlformats.org/officeDocument/2006/relationships" id="269" r:id="Ra3a8b0c13b244f19"/>
    <p:sldId xmlns:r="http://schemas.openxmlformats.org/officeDocument/2006/relationships" id="270" r:id="R53046525d7424c7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"1.0" encoding="UTF-8" standalone="yes"?>
<Relationships xmlns="http://schemas.openxmlformats.org/package/2006/relationships"><Relationship Id="R09f06ce265e44360" Type="http://schemas.openxmlformats.org/officeDocument/2006/relationships/slide" Target="/ppt/slides/slide8.xml"/><Relationship Id="Rb5732932b59b4a62" Type="http://schemas.openxmlformats.org/officeDocument/2006/relationships/slide" Target="/ppt/slides/slide4.xml"/><Relationship Id="R3c86962245b54367" Type="http://schemas.openxmlformats.org/officeDocument/2006/relationships/slide" Target="/ppt/slides/slide5.xml"/><Relationship Id="R171a690410ee42fd" Type="http://schemas.openxmlformats.org/officeDocument/2006/relationships/slide" Target="/ppt/slides/slide9.xml"/><Relationship Id="Re5202d3ed487414a" Type="http://schemas.openxmlformats.org/officeDocument/2006/relationships/slide" Target="/ppt/slides/slide13.xml"/><Relationship Id="rId3" Type="http://schemas.openxmlformats.org/officeDocument/2006/relationships/customXml" Target="../customXml/item3.xml"/><Relationship Id="Rdd0c0fdcf6ad4709" Type="http://schemas.openxmlformats.org/officeDocument/2006/relationships/slideMaster" Target="/ppt/slideMasters/slideMaster1.xml"/><Relationship Id="Rca3677f66b734c54" Type="http://schemas.openxmlformats.org/officeDocument/2006/relationships/presProps" Target="/ppt/presProps.xml"/><Relationship Id="R6948fbd8bb74400e" Type="http://schemas.openxmlformats.org/officeDocument/2006/relationships/slide" Target="/ppt/slides/slide2.xml"/><Relationship Id="Ra67bde22deb549de" Type="http://schemas.openxmlformats.org/officeDocument/2006/relationships/slide" Target="/ppt/slides/slide10.xml"/><Relationship Id="Rb82cfaac4db443c2" Type="http://schemas.openxmlformats.org/officeDocument/2006/relationships/slide" Target="/ppt/slides/slide3.xml"/><Relationship Id="R9a1bb5c0c0d34833" Type="http://schemas.openxmlformats.org/officeDocument/2006/relationships/slide" Target="/ppt/slides/slide11.xml"/><Relationship Id="Ra3a8b0c13b244f19" Type="http://schemas.openxmlformats.org/officeDocument/2006/relationships/slide" Target="/ppt/slides/slide14.xml"/><Relationship Id="rId2" Type="http://schemas.openxmlformats.org/officeDocument/2006/relationships/customXml" Target="../customXml/item2.xml"/><Relationship Id="Re13a7b8146e14747" Type="http://schemas.openxmlformats.org/officeDocument/2006/relationships/notesMaster" Target="/ppt/notesMasters/notesMaster1.xml"/><Relationship Id="R7b10033a7bae45e0" Type="http://schemas.openxmlformats.org/officeDocument/2006/relationships/slide" Target="/ppt/slides/slide6.xml"/><Relationship Id="rId1" Type="http://schemas.openxmlformats.org/officeDocument/2006/relationships/customXml" Target="../customXml/item1.xml"/><Relationship Id="Rc4e4d20b1da5446f" Type="http://schemas.openxmlformats.org/officeDocument/2006/relationships/slide" Target="/ppt/slides/slide1.xml"/><Relationship Id="R53046525d7424c77" Type="http://schemas.openxmlformats.org/officeDocument/2006/relationships/slide" Target="/ppt/slides/slide15.xml"/><Relationship Id="R6c34210a2f974f11" Type="http://schemas.openxmlformats.org/officeDocument/2006/relationships/tableStyles" Target="/ppt/tableStyles.xml"/><Relationship Id="R75ff1ac11b1d47a7" Type="http://schemas.openxmlformats.org/officeDocument/2006/relationships/slide" Target="/ppt/slides/slide12.xml"/><Relationship Id="Re12e243f9b244ed0" Type="http://schemas.openxmlformats.org/officeDocument/2006/relationships/theme" Target="/ppt/theme/theme1.xml"/><Relationship Id="R794ed7bb96014924" Type="http://schemas.openxmlformats.org/officeDocument/2006/relationships/slide" Target="/ppt/slides/slide7.xml"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becefa7d5a34fb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ee17fa92b6c4d8a" /><Relationship Type="http://schemas.openxmlformats.org/officeDocument/2006/relationships/notesMaster" Target="/ppt/notesMasters/notesMaster1.xml" Id="R2371eca9a4c348f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07bdc7379114f98" /><Relationship Type="http://schemas.openxmlformats.org/officeDocument/2006/relationships/notesMaster" Target="/ppt/notesMasters/notesMaster1.xml" Id="R4c3ecade7c1a4c0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9427dbfb7be4dca" /><Relationship Type="http://schemas.openxmlformats.org/officeDocument/2006/relationships/notesMaster" Target="/ppt/notesMasters/notesMaster1.xml" Id="R0c6b3504b3d84d1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804efe9c4b14f33" /><Relationship Type="http://schemas.openxmlformats.org/officeDocument/2006/relationships/notesMaster" Target="/ppt/notesMasters/notesMaster1.xml" Id="R890bc3fb9a8b4a0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bab5aaea7744f63" /><Relationship Type="http://schemas.openxmlformats.org/officeDocument/2006/relationships/notesMaster" Target="/ppt/notesMasters/notesMaster1.xml" Id="R136d251ddce54dd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91cb21c959c4d7c" /><Relationship Type="http://schemas.openxmlformats.org/officeDocument/2006/relationships/notesMaster" Target="/ppt/notesMasters/notesMaster1.xml" Id="R165bb539e7824c5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40015572a5343c6" /><Relationship Type="http://schemas.openxmlformats.org/officeDocument/2006/relationships/notesMaster" Target="/ppt/notesMasters/notesMaster1.xml" Id="Ra5f631868ac64b9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58b6e5ef6944ac8" /><Relationship Type="http://schemas.openxmlformats.org/officeDocument/2006/relationships/notesMaster" Target="/ppt/notesMasters/notesMaster1.xml" Id="R5f6a39cb513e4db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88e5e250b834922" /><Relationship Type="http://schemas.openxmlformats.org/officeDocument/2006/relationships/notesMaster" Target="/ppt/notesMasters/notesMaster1.xml" Id="R8f01aa4df69d446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3979c77a0504965" /><Relationship Type="http://schemas.openxmlformats.org/officeDocument/2006/relationships/notesMaster" Target="/ppt/notesMasters/notesMaster1.xml" Id="Rf168abc23237452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cf316e5890744ae" /><Relationship Type="http://schemas.openxmlformats.org/officeDocument/2006/relationships/notesMaster" Target="/ppt/notesMasters/notesMaster1.xml" Id="Re48494e0e98c457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5fc86ba0f204eac" /><Relationship Type="http://schemas.openxmlformats.org/officeDocument/2006/relationships/notesMaster" Target="/ppt/notesMasters/notesMaster1.xml" Id="R624892969b3c46f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cbd22dda35f468d" /><Relationship Type="http://schemas.openxmlformats.org/officeDocument/2006/relationships/notesMaster" Target="/ppt/notesMasters/notesMaster1.xml" Id="Rdd719a05d7464e7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36f308b73894ab8" /><Relationship Type="http://schemas.openxmlformats.org/officeDocument/2006/relationships/notesMaster" Target="/ppt/notesMasters/notesMaster1.xml" Id="Rdfc0b7b07f5945d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7045c898ec146f9" /><Relationship Type="http://schemas.openxmlformats.org/officeDocument/2006/relationships/notesMaster" Target="/ppt/notesMasters/notesMaster1.xml" Id="R9be46468e0ff428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1 เครื่องหยุดผลิตแล้ว ไฟหยุดด้วยหรือยัง</a:t>
            </a:r>
          </a:p>
          <a:p xmlns:a="http://schemas.openxmlformats.org/drawingml/2006/main">
            <a:r>
              <a:t>เป้าหมาย เรียกความสนใจกลับมา และให้ผู้ฟังเริ่มนึกถึงเครื่องจักรของ Business ตัวเอง</a:t>
            </a:r>
          </a:p>
          <a:p xmlns:a="http://schemas.openxmlformats.org/drawingml/2006/main">
            <a:r>
              <a:t>สิ่งที่อยากให้ผู้ฟังคิดหรือทำ ผู้ฟังมีภาพหน้างานหนึ่งจุดในใจ และพร้อมฟังว่าเรื่องนี้เกี่ยวกับงานของตนอย่างไร</a:t>
            </a:r>
          </a:p>
          <a:p xmlns:a="http://schemas.openxmlformats.org/drawingml/2006/main">
            <a:r>
              <a:t>เวลา 60 วินาที (ฉบับ 18 นาที) / 45 วินาที (ฉบับ 15 นาที)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บทพูด</a:t>
            </a:r>
          </a:p>
          <a:p xmlns:a="http://schemas.openxmlformats.org/drawingml/2006/main">
            <a:r>
              <a:t>ก่อนเริ่ม ผมขอให้ทุกคนลองนึกถึงเครื่องจักรหนึ่งเครื่องในธุรกิจของเรา วันนี้จะยกธุรกิจหม้อแปลงเป็นตัวอย่าง ช่วงที่เครื่องยังเปิดอยู่แต่ไม่มีชิ้นงานผ่าน เรารู้ไหมว่าไฟที่ใช้ในช่วงนั้นจำเป็นเท่าไร และมีส่วนไหนที่ลดได้โดยงานไม่สะดุด วันนี้ผมอยากชวนเริ่มจากคำถามใกล้ตัวแบบนี้ แล้วใช้ความสามารถของทีม Factory 4.0–ESG ทำให้เรามองเห็น ตัดสินใจ และวัดผลได้ร่วมกับ Business ครับ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จังหวะการนำเสนอ</a:t>
            </a:r>
          </a:p>
          <a:p xmlns:a="http://schemas.openxmlformats.org/drawingml/2006/main">
            <a:r>
              <a:t>หยุดเงียบ 5 วินาทีให้ผู้ฟังนึกถึงเครื่องหนึ่งเครื่อง มองผู้ฟังหลายฝั่ง พูดช้าในประโยคแรก ไม่ต้องให้ยกมือ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ประโยคเชื่อม</a:t>
            </a:r>
          </a:p>
          <a:p xmlns:a="http://schemas.openxmlformats.org/drawingml/2006/main">
            <a:r>
              <a:t>คำถามเล็กที่หน้างานนี้เชื่อมกับอนาคตที่เราอยากเป็นได้อย่างไร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ข้อควรระวังในการสื่อสาร</a:t>
            </a:r>
          </a:p>
          <a:p xmlns:a="http://schemas.openxmlformats.org/drawingml/2006/main">
            <a:r>
              <a:t>เป็นคำถามชวนสำรวจ ไม่ใช่ข้อกล่าวหาว่าโรงงานใช้ไฟสิ้นเปลือง และยังไม่ทราบว่ามีส่วนสูญเปล่าเท่าไร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แหล่งอ้างอิง</a:t>
            </a:r>
          </a:p>
          <a:p xmlns:a="http://schemas.openxmlformats.org/drawingml/2006/main">
            <a:r>
              <a:t>บริบทและข้อเสนอของผู้บรรยายสำหรับ PCC Forum วันที่ 1 ตุลาคม 2569</a:t>
            </a:r>
          </a:p>
          <a:p xmlns:a="http://schemas.openxmlformats.org/drawingml/2006/main">
            <a:r>
              <a:t>ภาพโรงงานเป็นภาพประกอบเชิงแนวคิดที่สร้างขึ้น ไม่ใช่ภาพหน้างาน PCC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2 Number One Engineering Firm of Southeast Asia</a:t>
            </a:r>
          </a:p>
          <a:p xmlns:a="http://schemas.openxmlformats.org/drawingml/2006/main">
            <a:r>
              <a:t>เป้าหมาย สร้างวิสัยทัศน์ร่วม และให้เห็นบทบาทของงานหน้างานต่อทิศทางระยะ 10 ปี</a:t>
            </a:r>
          </a:p>
          <a:p xmlns:a="http://schemas.openxmlformats.org/drawingml/2006/main">
            <a:r>
              <a:t>สิ่งที่อยากให้ผู้ฟังคิดหรือทำ ผู้ฟังเห็นว่า Business ของตนเป็นแหล่งสร้างหลักฐานความสามารถด้านวิศวกรรมของ PCC</a:t>
            </a:r>
          </a:p>
          <a:p xmlns:a="http://schemas.openxmlformats.org/drawingml/2006/main">
            <a:r>
              <a:t>เวลา 75 วินาที (ฉบับ 18 นาที) / 60 วินาที (ฉบับ 15 นาที)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บทพูด</a:t>
            </a:r>
          </a:p>
          <a:p xmlns:a="http://schemas.openxmlformats.org/drawingml/2006/main">
            <a:r>
              <a:t>ทิศทางที่เราอยากไปคือ Number One Engineering Firm of Southeast Asia หรือบริษัทวิศวกรรมอันดับหนึ่งในเอเชียตะวันออกเฉียงใต้ สำหรับเรื่องที่นำเสนอวันนี้ ผมอยากชวนสร้างหลักฐานความสามารถทีละเรื่อง เริ่มจากแก้ปัญหาในโรงงานของเรา วัดผลได้จริง เก็บวิธีให้ทำซ้ำได้ แล้วจึงนำความรู้ไปแก้ปัญหาให้ลูกค้า วิสัยทัศน์ระยะยาวจะมีฐานรองรับมากขึ้นเมื่อแต่ละ Business มีผลงานที่อธิบายได้ว่าทำอะไร ผลเปลี่ยนเพราะอะไร และใช้ซ้ำที่ไหนได้ครับ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จังหวะการนำเสนอ</a:t>
            </a:r>
          </a:p>
          <a:p xmlns:a="http://schemas.openxmlformats.org/drawingml/2006/main">
            <a:r>
              <a:t>เว้นจังหวะหลังอ่านวิสัยทัศน์ เน้นคำว่า ‘หลักฐานความสามารถ’ และหันกลับมาพูดถึง Business ในห้อง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ประโยคเชื่อม</a:t>
            </a:r>
          </a:p>
          <a:p xmlns:a="http://schemas.openxmlformats.org/drawingml/2006/main">
            <a:r>
              <a:t>ก้าวแรกจึงเริ่มจากการเชื่อมข้อมูลที่คนหน้างานใช้ตัดสินใจ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ข้อควรระวังในการสื่อสาร</a:t>
            </a:r>
          </a:p>
          <a:p xmlns:a="http://schemas.openxmlformats.org/drawingml/2006/main">
            <a:r>
              <a:t>เป็นวิสัยทัศน์ที่ผู้บรรยายกำหนดสำหรับเวทีนี้ ยังไม่มีนิยามอันดับหรือการจัดอันดับที่รับรอง และ Pilot เดียวไม่ยืนยันความเป็นอันดับหนึ่ง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แหล่งอ้างอิง</a:t>
            </a:r>
          </a:p>
          <a:p xmlns:a="http://schemas.openxmlformats.org/drawingml/2006/main">
            <a:r>
              <a:t>บริบทและข้อเสนอของผู้บรรยายสำหรับ PCC Forum วันที่ 1 ตุลาคม 2569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3 ข้อมูลที่ต้องเห็นพร้อมกัน</a:t>
            </a:r>
          </a:p>
          <a:p xmlns:a="http://schemas.openxmlformats.org/drawingml/2006/main">
            <a:r>
              <a:t>เป้าหมาย ให้ผู้ฟังทบทวนช่องว่างของข้อมูลปัจจุบัน โดยไม่สรุปแทนว่าทุก Business มีปัญหาเดียวกัน</a:t>
            </a:r>
          </a:p>
          <a:p xmlns:a="http://schemas.openxmlformats.org/drawingml/2006/main">
            <a:r>
              <a:t>สิ่งที่อยากให้ผู้ฟังคิดหรือทำ ผู้ฟังเริ่มคิดว่า Business มีข้อมูลอะไรแล้ว และข้อมูลส่วนใดต้องเชื่อมให้ตรงกัน</a:t>
            </a:r>
          </a:p>
          <a:p xmlns:a="http://schemas.openxmlformats.org/drawingml/2006/main">
            <a:r>
              <a:t>เวลา 75 วินาที (ฉบับ 18 นาที) / 60 วินาที (ฉบับ 15 นาที)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บทพูด</a:t>
            </a:r>
          </a:p>
          <a:p xmlns:a="http://schemas.openxmlformats.org/drawingml/2006/main">
            <a:r>
              <a:t>ลองมองสามเรื่องพร้อมกันครับ เครื่องใช้ไฟเมื่อไร ในเวลาเดียวกันเครื่องกำลังทำงานอะไร และได้ชิ้นงานที่ผ่านคุณภาพเท่าไร ข้อมูลบางส่วนอาจมีอยู่แล้วในมิเตอร์ ระบบผลิต หรือบันทึกของหัวหน้างาน เราควรสำรวจก่อนว่าใช้ของเดิมได้แค่ไหน จุดสำคัญคือเชื่อมเวลา เครื่องจักร รุ่นสินค้า และผลผลิตให้ตรงกัน เพื่อให้คนหน้างานอธิบายได้ว่าไฟที่ใช้เกิดจากงานที่จำเป็นหรือจากสิ่งที่ปรับปรุงได้ Business คือคนที่ช่วยแปลความหมายของข้อมูลเหล่านี้ได้ดีที่สุดครับ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จังหวะการนำเสนอ</a:t>
            </a:r>
          </a:p>
          <a:p xmlns:a="http://schemas.openxmlformats.org/drawingml/2006/main">
            <a:r>
              <a:t>ชี้ทีละแถวในตาราง ให้ผู้ฟังคิดเงียบ ๆ ว่าข้อมูลของตนอยู่ที่ใคร ไม่ต้องขอคำตอบรายฝ่ายในห้อง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ประโยคเชื่อม</a:t>
            </a:r>
          </a:p>
          <a:p xmlns:a="http://schemas.openxmlformats.org/drawingml/2006/main">
            <a:r>
              <a:t>เมื่อเห็นข้อมูลร่วมกัน เราจำกัดโจทย์แรกให้เล็กและชัดได้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ข้อควรระวังในการสื่อสาร</a:t>
            </a:r>
          </a:p>
          <a:p xmlns:a="http://schemas.openxmlformats.org/drawingml/2006/main">
            <a:r>
              <a:t>อย่าสรุปว่าปัจจุบันไม่มีมิเตอร์หรือข้อมูลเชื่อมกัน ผู้ใช้ยังไม่ทราบสถานะจริงของแต่ละไลน์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แหล่งอ้างอิง</a:t>
            </a:r>
          </a:p>
          <a:p xmlns:a="http://schemas.openxmlformats.org/drawingml/2006/main">
            <a:r>
              <a:t>บริบทและข้อเสนอของผู้บรรยายสำหรับ PCC Forum วันที่ 1 ตุลาคม 2569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4 ตัวอย่างเริ่มต้นในธุรกิจหม้อแปลง</a:t>
            </a:r>
          </a:p>
          <a:p xmlns:a="http://schemas.openxmlformats.org/drawingml/2006/main">
            <a:r>
              <a:t>เป้าหมาย ทำให้ขอบเขตเริ่มต้นจับต้องได้ และสร้างความมั่นใจว่าจะรักษาการผลิต</a:t>
            </a:r>
          </a:p>
          <a:p xmlns:a="http://schemas.openxmlformats.org/drawingml/2006/main">
            <a:r>
              <a:t>สิ่งที่อยากให้ผู้ฟังคิดหรือทำ ผู้ฟังสามารถนึกถึงไลน์ที่เหมาะเป็นจุดเริ่มต้น และเข้าใจเงื่อนไขความสำเร็จ</a:t>
            </a:r>
          </a:p>
          <a:p xmlns:a="http://schemas.openxmlformats.org/drawingml/2006/main">
            <a:r>
              <a:t>เวลา 90 วินาที (ฉบับ 18 นาที) / 75 วินาที (ฉบับ 15 นาที)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บทพูด</a:t>
            </a:r>
          </a:p>
          <a:p xmlns:a="http://schemas.openxmlformats.org/drawingml/2006/main">
            <a:r>
              <a:t>วันนี้จะยกธุรกิจหม้อแปลงเป็นตัวอย่างเริ่มต้นที่เสนอให้หารือ โดยเลือกหนึ่งไลน์หรือกลุ่มเครื่องที่กำหนดขอบเขตวัดได้ แล้วลดการใช้ไฟฟ้าที่ไม่มีความจำเป็นต่อผลผลิต พร้อมประเมินก๊าซเรือนกระจกจากไฟฟ้าที่ลดได้ โดยรักษาปริมาณผลิต คุณภาพ และความปลอดภัย สิ่งที่ต้องสำรวจก่อนคือเครื่องใดเกี่ยวข้อง มีมิเตอร์และข้อมูลอะไรอยู่แล้ว และช่วงใดเหมาะทดลอง เราจะตกลงค่าตั้งต้นและเกณฑ์กับ Business ก่อนเริ่ม การปรับเครื่องต้องผ่านผู้มีอำนาจหน้างานเสมอ เมื่อยังไม่มีข้อมูลจริง เราจึงยังไม่ตั้งเปอร์เซ็นต์ประหยัดหรือสัญญาว่าจะคืนทุนภายในกี่เดือนครับ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จังหวะการนำเสนอ</a:t>
            </a:r>
          </a:p>
          <a:p xmlns:a="http://schemas.openxmlformats.org/drawingml/2006/main">
            <a:r>
              <a:t>เน้นคำว่า ‘หนึ่งไลน์’ จากนั้นอ่านเงื่อนไขรักษาการผลิตให้ชัด ไม่เร่งผ่านไปเรื่องเทคโนโลยี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ประโยคเชื่อม</a:t>
            </a:r>
          </a:p>
          <a:p xmlns:a="http://schemas.openxmlformats.org/drawingml/2006/main">
            <a:r>
              <a:t>แต่พอเห็นเครื่องใช้ไฟระหว่างรอ เราจะตัดสินทันทีได้ไหมว่าต้องปิด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ข้อควรระวังในการสื่อสาร</a:t>
            </a:r>
          </a:p>
          <a:p xmlns:a="http://schemas.openxmlformats.org/drawingml/2006/main">
            <a:r>
              <a:t>ไฟฟ้าที่ซื้อมาใช้เชื่อมกับ Scope 2 ส่วนเชื้อเพลิงที่เผาเองเป็นอีกขอบเขตหนึ่ง ยังไม่รวมใน Pilot นี้ ธุรกิจหม้อแปลงเป็นตัวอย่างที่ผู้บรรยายเสนอ ยังไม่ใช่ลำดับโฟกัสหรือไลน์ที่ Group COO ยืนยันแล้ว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แหล่งอ้างอิง</a:t>
            </a:r>
          </a:p>
          <a:p xmlns:a="http://schemas.openxmlformats.org/drawingml/2006/main">
            <a:r>
              <a:t>GHG Protocol — Scope 2 Guidance</a:t>
            </a:r>
          </a:p>
          <a:p xmlns:a="http://schemas.openxmlformats.org/drawingml/2006/main">
            <a:r>
              <a:t>https://ghgprotocol.org/scope-2-guidance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5 เครื่องรออยู่ ควรปิดหรือเดินต่อ</a:t>
            </a:r>
          </a:p>
          <a:p xmlns:a="http://schemas.openxmlformats.org/drawingml/2006/main">
            <a:r>
              <a:t>เป้าหมาย เปิดให้ผู้ฟังคิดตาม และทำให้เห็นว่าความรู้ของ Business จำเป็นต่อการตัดสินใจ</a:t>
            </a:r>
          </a:p>
          <a:p xmlns:a="http://schemas.openxmlformats.org/drawingml/2006/main">
            <a:r>
              <a:t>สิ่งที่อยากให้ผู้ฟังคิดหรือทำ ผู้ฟังแยก ‘ช่วงไม่ผลิต’ ออกจาก ‘พลังงานที่ลดได้’ และเห็นคุณค่าประสบการณ์หน้างานของตน</a:t>
            </a:r>
          </a:p>
          <a:p xmlns:a="http://schemas.openxmlformats.org/drawingml/2006/main">
            <a:r>
              <a:t>เวลา 100 วินาที (ฉบับ 18 นาที) / 90 วินาที (ฉบับ 15 นาที)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บทพูด</a:t>
            </a:r>
          </a:p>
          <a:p xmlns:a="http://schemas.openxmlformats.org/drawingml/2006/main">
            <a:r>
              <a:t>ลองสมมติว่าเราเห็นเครื่องใช้ไฟอยู่ระหว่างรอชิ้นงาน ทุกท่านคิดว่าควรปิดเลยไหมครับ [หยุดให้คิด] คำตอบขึ้นกับเหตุผลที่รอ ถ้าต้องรักษาอุณหภูมิหรือสภาวะของกระบวนการ การปิดอาจกระทบคุณภาพ ถ้ารอวัตถุดิบเพราะตารางงานไม่ตรงกัน เราอาจแก้การจัดตารางได้ ถ้ายังไม่รู้สาเหตุ ก็ต้องเก็บข้อมูลเพิ่ม ตัวอย่างนี้แสดงว่าข้อมูลเครื่องจักรต้องทำงานคู่กับความรู้การผลิต เราจะนับเป็นพลังงานที่ลดได้หลังคนหน้างานยืนยันเงื่อนไขและทดลองอย่างปลอดภัยแล้วครับ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จังหวะการนำเสนอ</a:t>
            </a:r>
          </a:p>
          <a:p xmlns:a="http://schemas.openxmlformats.org/drawingml/2006/main">
            <a:r>
              <a:t>เว้น 8 วินาทีหลังคำถาม ถ้าบรรยากาศเหมาะ รับคำตอบสั้นเพียงหนึ่งคนแล้วเชื่อมกลับเข้าประเด็น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ประโยคเชื่อม</a:t>
            </a:r>
          </a:p>
          <a:p xmlns:a="http://schemas.openxmlformats.org/drawingml/2006/main">
            <a:r>
              <a:t>กระบวนการทำงานร่วมกันจึงต้องมีทั้งการวัด การอธิบาย และการลงมือปรับ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ข้อควรระวังในการสื่อสาร</a:t>
            </a:r>
          </a:p>
          <a:p xmlns:a="http://schemas.openxmlformats.org/drawingml/2006/main">
            <a:r>
              <a:t>ตัวอย่างเป็นสถานการณ์สมมติ ไม่ใช่ผลสำรวจ PCC และห้ามเสนอปิดเครื่องอัตโนมัติโดยยังไม่ตรวจข้อจำกัดของกระบวนการ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แหล่งอ้างอิง</a:t>
            </a:r>
          </a:p>
          <a:p xmlns:a="http://schemas.openxmlformats.org/drawingml/2006/main">
            <a:r>
              <a:t>บริบทและข้อเสนอของผู้บรรยายสำหรับ PCC Forum วันที่ 1 ตุลาคม 2569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6 วงจรการปรับปรุงหน้างาน</a:t>
            </a:r>
          </a:p>
          <a:p xmlns:a="http://schemas.openxmlformats.org/drawingml/2006/main">
            <a:r>
              <a:t>เป้าหมาย อธิบายกลไกที่ทำให้ข้อมูลนำไปสู่ผลลัพธ์ และให้เห็นงานร่วมของทีมกับ Business</a:t>
            </a:r>
          </a:p>
          <a:p xmlns:a="http://schemas.openxmlformats.org/drawingml/2006/main">
            <a:r>
              <a:t>สิ่งที่อยากให้ผู้ฟังคิดหรือทำ ผู้ฟังเข้าใจว่าต้องมีคนตัดสินใจและเปลี่ยนวิธีทำงาน จึงจะเกิดผลที่วัดได้</a:t>
            </a:r>
          </a:p>
          <a:p xmlns:a="http://schemas.openxmlformats.org/drawingml/2006/main">
            <a:r>
              <a:t>เวลา 100 วินาที (ฉบับ 18 นาที) / 80 วินาที (ฉบับ 15 นาที)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บทพูด</a:t>
            </a:r>
          </a:p>
          <a:p xmlns:a="http://schemas.openxmlformats.org/drawingml/2006/main">
            <a:r>
              <a:t>งานทดลองจะเดินเป็นวงจรครับ เริ่มจากวัดไฟ สถานะเครื่อง ผลผลิตและคุณภาพให้ตรงช่วงเวลา จากนั้นทีม Factory 4.0–ESG กับคนของ Business ช่วยกันอธิบายสาเหตุ เลือกสิ่งที่ปรับได้ เช่น ตารางเปิดเครื่อง ลำดับงาน หรือกติกาการรอ เมื่อเจ้าของกระบวนการเห็นชอบจึงทดลอง และเปรียบเทียบผลกับค่าตั้งต้นที่ปรับตามเงื่อนไขการผลิต สุดท้ายเก็บวิธีทำ ข้อยกเว้น และผลจริงเป็นความรู้ใช้ซ้ำได้ เครื่องมือวิเคราะห์หรือ AI จะเพิ่มเมื่อมีโจทย์และข้อมูลที่เหมาะครับ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จังหวะการนำเสนอ</a:t>
            </a:r>
          </a:p>
          <a:p xmlns:a="http://schemas.openxmlformats.org/drawingml/2006/main">
            <a:r>
              <a:t>อธิบายทีละขั้นโดยเน้นขั้น ‘ปรับงาน’ และ ‘วัดผล’ ให้ผู้ฟังเห็นว่า Business มีส่วนตัดสินใจตลอดวงจร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ประโยคเชื่อม</a:t>
            </a:r>
          </a:p>
          <a:p xmlns:a="http://schemas.openxmlformats.org/drawingml/2006/main">
            <a:r>
              <a:t>ก่อนทดลอง เราต้องตกลงว่าผลแบบใดจึงถือว่าดีขึ้นจริง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ข้อควรระวังในการสื่อสาร</a:t>
            </a:r>
          </a:p>
          <a:p xmlns:a="http://schemas.openxmlformats.org/drawingml/2006/main">
            <a:r>
              <a:t>การแสดงข้อมูลหรือแจ้งเตือนเป็น Output เท่านั้น ยังไม่ใช่หลักฐานว่าประหยัดได้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แหล่งอ้างอิง</a:t>
            </a:r>
          </a:p>
          <a:p xmlns:a="http://schemas.openxmlformats.org/drawingml/2006/main">
            <a:r>
              <a:t>ISO 50006:2023</a:t>
            </a:r>
          </a:p>
          <a:p xmlns:a="http://schemas.openxmlformats.org/drawingml/2006/main">
            <a:r>
              <a:t>https://www.iso.org/standard/79367.html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7 ผลต้องดีขึ้นพร้อมรักษาการผลิต</a:t>
            </a:r>
          </a:p>
          <a:p xmlns:a="http://schemas.openxmlformats.org/drawingml/2006/main">
            <a:r>
              <a:t>เป้าหมาย สร้างความเชื่อมั่นด้วยเกณฑ์วัดผลที่ยุติธรรมต่อ Business</a:t>
            </a:r>
          </a:p>
          <a:p xmlns:a="http://schemas.openxmlformats.org/drawingml/2006/main">
            <a:r>
              <a:t>สิ่งที่อยากให้ผู้ฟังคิดหรือทำ ผู้ฟังเห็นว่าเกณฑ์ความสำเร็จรวมผลผลิต คุณภาพ และความปลอดภัย ไม่ใช้ยอดไฟที่ลดลงเพียงตัวเดียว</a:t>
            </a:r>
          </a:p>
          <a:p xmlns:a="http://schemas.openxmlformats.org/drawingml/2006/main">
            <a:r>
              <a:t>เวลา 105 วินาที (ฉบับ 18 นาที) / 90 วินาที (ฉบับ 15 นาที)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บทพูด</a:t>
            </a:r>
          </a:p>
          <a:p xmlns:a="http://schemas.openxmlformats.org/drawingml/2006/main">
            <a:r>
              <a:t>เราจะดูทั้งประสิทธิภาพต่อหน่วยและยอดรวมครับ เช่น หน่วยไฟต่อชิ้นงานดีที่เทียบรุ่นและขนาดสินค้าเหมาะสมกัน ค่าไฟที่เกี่ยวข้อง และก๊าซเรือนกระจกที่คำนวณจากไฟฟ้า พร้อมติดตามผลผลิต อัตราผ่านคุณภาพ เวลาหยุด และความปลอดภัย หากเดือนหนึ่งผลิตน้อยลง ไฟรวมลดลงก็ยังบอกไม่ได้ว่าทำงานมีประสิทธิภาพขึ้น และถ้าผลิตมากขึ้นจนไฟรวมเพิ่ม เราก็ต้องรายงานตามจริง การเปรียบเทียบต้องพิจารณารุ่นและขนาดสินค้า ปริมาณงาน ชั่วโมงเดินเครื่อง และปัจจัยสำคัญอื่นร่วมกัน ส่วนฝ่ายการเงินช่วยตรวจว่าค่าไฟส่วนใดลดเป็นเงินจริงได้ครับ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จังหวะการนำเสนอ</a:t>
            </a:r>
          </a:p>
          <a:p xmlns:a="http://schemas.openxmlformats.org/drawingml/2006/main">
            <a:r>
              <a:t>ชี้ตัวชี้วัดผลดีและเงื่อนไขรักษางานเป็นคู่ เน้นว่าเกณฑ์จะตกลงร่วมกับ Business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ประโยคเชื่อม</a:t>
            </a:r>
          </a:p>
          <a:p xmlns:a="http://schemas.openxmlformats.org/drawingml/2006/main">
            <a:r>
              <a:t>เมื่อพิสูจน์ด้วยเกณฑ์นี้ เราจะอธิบายประโยชน์ต่อบริษัทได้สามระดับ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ข้อควรระวังในการสื่อสาร</a:t>
            </a:r>
          </a:p>
          <a:p xmlns:a="http://schemas.openxmlformats.org/drawingml/2006/main">
            <a:r>
              <a:t>ผลต่อหน่วยที่ดีขึ้นไม่ยืนยันว่า GHG รวมลดลง ห้ามคูณไฟที่ลดด้วยค่าไฟเฉลี่ยแล้วอ้างว่าเป็นเงินประหยัดสุทธิทันที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แหล่งอ้างอิง</a:t>
            </a:r>
          </a:p>
          <a:p xmlns:a="http://schemas.openxmlformats.org/drawingml/2006/main">
            <a:r>
              <a:t>GHG Protocol — Scope 2 Guidance</a:t>
            </a:r>
          </a:p>
          <a:p xmlns:a="http://schemas.openxmlformats.org/drawingml/2006/main">
            <a:r>
              <a:t>https://ghgprotocol.org/scope-2-guidance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ISO 50006:2023</a:t>
            </a:r>
          </a:p>
          <a:p xmlns:a="http://schemas.openxmlformats.org/drawingml/2006/main">
            <a:r>
              <a:t>https://www.iso.org/standard/79367.html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8 สิ่งที่ PCC Group จะได้</a:t>
            </a:r>
          </a:p>
          <a:p xmlns:a="http://schemas.openxmlformats.org/drawingml/2006/main">
            <a:r>
              <a:t>เป้าหมาย แยกสิ่งส่งมอบ ผลจากการใช้ และคุณค่าระยะยาวให้ชัด</a:t>
            </a:r>
          </a:p>
          <a:p xmlns:a="http://schemas.openxmlformats.org/drawingml/2006/main">
            <a:r>
              <a:t>สิ่งที่อยากให้ผู้ฟังคิดหรือทำ ผู้ฟังเห็นทั้งประโยชน์กับหน้างานตนเองและความสามารถร่วมที่ PCC เก็บสะสมได้</a:t>
            </a:r>
          </a:p>
          <a:p xmlns:a="http://schemas.openxmlformats.org/drawingml/2006/main">
            <a:r>
              <a:t>เวลา 95 วินาที (ฉบับ 18 นาที) / 75 วินาที (ฉบับ 15 นาที)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บทพูด</a:t>
            </a:r>
          </a:p>
          <a:p xmlns:a="http://schemas.openxmlformats.org/drawingml/2006/main">
            <a:r>
              <a:t>ผลของงานนี้มีสามระดับครับ Output คือสิ่งที่ทำเสร็จ เช่น ข้อมูลที่เชื่อมกัน ค่าตั้งต้น วิธีทดลอง และคู่มือปฏิบัติ Outcome คือสิ่งที่เปลี่ยนเมื่อหน้างานนำไปใช้ เช่น ใช้ไฟที่ไม่จำเป็นน้อยลง ต้นทุนที่ตรวจสอบได้ลดลง โดยงานผลิตยังผ่านเกณฑ์ Impact คือคุณค่าที่เกิดกับ PCC เมื่อผลนั้นคงอยู่และทำซ้ำได้ เราจะมีความสามารถด้านวิศวกรรม มีข้อมูลพลังงานและคาร์บอนที่ตรวจย้อนกลับได้ และมีกรณีใช้งานจริงสำหรับพัฒนาบริการให้ลูกค้า ผลสองระดับหลังต้องรอหลักฐานจากการทดลองและการขยายผลครับ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จังหวะการนำเสนอ</a:t>
            </a:r>
          </a:p>
          <a:p xmlns:a="http://schemas.openxmlformats.org/drawingml/2006/main">
            <a:r>
              <a:t>หยุดที่แต่ละระดับสั้น ๆ ย้ำว่า Output สำเร็จยังต้องติดตามการใช้งานและผลจริงต่อ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ประโยคเชื่อม</a:t>
            </a:r>
          </a:p>
          <a:p xmlns:a="http://schemas.openxmlformats.org/drawingml/2006/main">
            <a:r>
              <a:t>การไปถึงผลลัพธ์ต้องมีเจ้าของการผลิตทำงานร่วมกับทีมกลาง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ข้อควรระวังในการสื่อสาร</a:t>
            </a:r>
          </a:p>
          <a:p xmlns:a="http://schemas.openxmlformats.org/drawingml/2006/main">
            <a:r>
              <a:t>ผลระยะยาวเป็นสิ่งที่มุ่งหวังและมีเงื่อนไข ไม่ใช่ผลสำเร็จที่เกิดแล้วหรือรายได้ที่รับรอง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แหล่งอ้างอิง</a:t>
            </a:r>
          </a:p>
          <a:p xmlns:a="http://schemas.openxmlformats.org/drawingml/2006/main">
            <a:r>
              <a:t>บริบทและข้อเสนอของผู้บรรยายสำหรับ PCC Forum วันที่ 1 ตุลาคม 2569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9 Business เป็นเจ้าของโจทย์และผลลัพธ์</a:t>
            </a:r>
          </a:p>
          <a:p xmlns:a="http://schemas.openxmlformats.org/drawingml/2006/main">
            <a:r>
              <a:t>เป้าหมาย สร้างความเป็นเจ้าของของแต่ละ Business และทำให้การลงแรงร่วมกันเห็นภาพ</a:t>
            </a:r>
          </a:p>
          <a:p xmlns:a="http://schemas.openxmlformats.org/drawingml/2006/main">
            <a:r>
              <a:t>สิ่งที่อยากให้ผู้ฟังคิดหรือทำ ผู้ฟังเริ่มประเมินว่าใครใน Business ของตนควรร่วมทำ และพร้อมเปิดข้อมูลส่วนใด</a:t>
            </a:r>
          </a:p>
          <a:p xmlns:a="http://schemas.openxmlformats.org/drawingml/2006/main">
            <a:r>
              <a:t>เวลา 120 วินาที (ฉบับ 18 นาที) / 95 วินาที (ฉบับ 15 นาที)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บทพูด</a:t>
            </a:r>
          </a:p>
          <a:p xmlns:a="http://schemas.openxmlformats.org/drawingml/2006/main">
            <a:r>
              <a:t>หัวใจของข้อเสนอนี้คือ Business ร่วมเป็นเจ้าของงานครับ Business รู้ว่าปัญหาใดสำคัญ เครื่องจักรมีข้อจำกัดอะไร และใครมีอำนาจปรับวิธีผลิต สิ่งที่ต้องร่วมกันคือจัดคนหน้างาน ให้เวลาทดลอง แชร์ข้อมูลที่ตกลงกัน และนำวิธีที่ได้ไปใช้จริง ส่วนทีม Factory 4.0–ESG ซึ่งเป็นทีมเดียวกัน จะช่วยวางวิธีเชื่อมข้อมูล ออกแบบการทดลอง วิเคราะห์พลังงานและคาร์บอน และตรวจผลร่วมกับ Business เราจะเริ่มจากเครื่องมือและข้อมูลที่มีอยู่ แล้วระบุสิ่งที่จำเป็นต้องเพิ่มให้ชัด งานนี้จึงต้องมีทั้งความรู้การผลิตและความสามารถทางดิจิทัลอยู่ในวงเดียวกันครับ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จังหวะการนำเสนอ</a:t>
            </a:r>
          </a:p>
          <a:p xmlns:a="http://schemas.openxmlformats.org/drawingml/2006/main">
            <a:r>
              <a:t>มองไปยังผู้นำ Business เมื่อพูดเรื่องเจ้าของผลลัพธ์ แล้วมองทีมหน้างานเมื่อพูดถึงเวลาและข้อมูล ใช้น้ำเสียงชวนร่วมออกแบบ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ประโยคเชื่อม</a:t>
            </a:r>
          </a:p>
          <a:p xmlns:a="http://schemas.openxmlformats.org/drawingml/2006/main">
            <a:r>
              <a:t>สิ่งที่เรียนรู้จากไลน์แรกจะเปิดทางให้เราเลือกโครงการต่อยอดได้ดีขึ้น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ข้อควรระวังในการสื่อสาร</a:t>
            </a:r>
          </a:p>
          <a:p xmlns:a="http://schemas.openxmlformats.org/drawingml/2006/main">
            <a:r>
              <a:t>Factory 4.0–ESG เป็นทีมเดียวกันตามโครงสร้างทีมที่กำหนด ไม่แยกเป็นสองทีม ไม่ระบุชื่อเจ้าภาพหรือชั่วโมงคนที่ยังไม่ได้ตกลง และไม่รับปากให้ทีมกลางทำแทน Business ทั้งหมด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แหล่งอ้างอิง</a:t>
            </a:r>
          </a:p>
          <a:p xmlns:a="http://schemas.openxmlformats.org/drawingml/2006/main">
            <a:r>
              <a:t>บริบทและข้อเสนอของผู้บรรยายสำหรับ PCC Forum วันที่ 1 ตุลาคม 2569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10 โครงการต่อยอดเมื่อมีหลักฐาน</a:t>
            </a:r>
          </a:p>
          <a:p xmlns:a="http://schemas.openxmlformats.org/drawingml/2006/main">
            <a:r>
              <a:t>เป้าหมาย ทำให้ผู้ฟังเห็นอนาคตที่น่าร่วมสร้าง โดยผูกแต่ละโอกาสกับสิ่งที่ต้องพิสูจน์</a:t>
            </a:r>
          </a:p>
          <a:p xmlns:a="http://schemas.openxmlformats.org/drawingml/2006/main">
            <a:r>
              <a:t>สิ่งที่อยากให้ผู้ฟังคิดหรือทำ แต่ละ Business มองเห็นประโยชน์ถัดไปที่เกี่ยวกับตน และเข้าใจว่าขยายตามความพร้อม</a:t>
            </a:r>
          </a:p>
          <a:p xmlns:a="http://schemas.openxmlformats.org/drawingml/2006/main">
            <a:r>
              <a:t>เวลา 120 วินาที (ฉบับ 18 นาที) / 95 วินาที (ฉบับ 15 นาที)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บทพูด</a:t>
            </a:r>
          </a:p>
          <a:p xmlns:a="http://schemas.openxmlformats.org/drawingml/2006/main">
            <a:r>
              <a:t>เมื่อไลน์แรกให้ผลที่เชื่อถือได้ เราจะมีทางต่อยอดหลายด้าน ด้านแรกคือขยายการจัดการพลังงานและคาร์บอนทั้งโรงงาน ด้านที่สองคือใช้ข้อมูลเครื่องจักรช่วยเรื่องความพร้อมของเครื่องและคุณภาพ ซึ่งอาจเพิ่ม AI เมื่อมีข้อมูลเหตุขัดข้องเพียงพอ ด้านที่สามคือจัดการพลังงานทั้งระบบ เช่น โซลาร์ แบตเตอรี่ หรือช่วงใช้ไฟสูงสุด โดยประเมินความคุ้มค่าและใช้ SGAM ช่วยออกแบบจุดเชื่อม ส่วนด้านที่สี่คือพัฒนาบริการให้ลูกค้า ทุกด้านต้องเลือกตามปัญหาและหลักฐาน บาง Business อาจต่อยอดคนละเส้นทางกันได้ครับ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จังหวะการนำเสนอ</a:t>
            </a:r>
          </a:p>
          <a:p xmlns:a="http://schemas.openxmlformats.org/drawingml/2006/main">
            <a:r>
              <a:t>ให้ผู้ฟังเลือกในใจว่าโอกาสใดใกล้ธุรกิจตนที่สุด ใช้เวลามากสุดกับหนึ่งหรือสองเรื่องที่เห็นปฏิกิริยาสนใจ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ประโยคเชื่อม</a:t>
            </a:r>
          </a:p>
          <a:p xmlns:a="http://schemas.openxmlformats.org/drawingml/2006/main">
            <a:r>
              <a:t>ถ้าต่อยอดไปหาลูกค้า ความน่าเชื่อถือจะเกิดจากหลักฐานที่เราสร้างขึ้นเอง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ข้อควรระวังในการสื่อสาร</a:t>
            </a:r>
          </a:p>
          <a:p xmlns:a="http://schemas.openxmlformats.org/drawingml/2006/main">
            <a:r>
              <a:t>เป็นทางเลือกในอนาคต ไม่ใช่แผนลงทุนที่อนุมัติแล้ว Direct PPA และการตอบสนองระบบไฟฟ้าต้องตรวจสิทธิ กติกา และความคุ้มค่าเฉพาะกรณี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แหล่งอ้างอิง</a:t>
            </a:r>
          </a:p>
          <a:p xmlns:a="http://schemas.openxmlformats.org/drawingml/2006/main">
            <a:r>
              <a:t>IEC — SGAM basics</a:t>
            </a:r>
          </a:p>
          <a:p xmlns:a="http://schemas.openxmlformats.org/drawingml/2006/main">
            <a:r>
              <a:t>https://syc-se.iec.ch/deliveries/sgam-basics/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11 หลักฐานจากโรงงานสู่บริการลูกค้า</a:t>
            </a:r>
          </a:p>
          <a:p xmlns:a="http://schemas.openxmlformats.org/drawingml/2006/main">
            <a:r>
              <a:t>เป้าหมาย เชื่อม Pilot กับโอกาสทางธุรกิจและวิสัยทัศน์ภูมิภาคอย่างมีเงื่อนไข</a:t>
            </a:r>
          </a:p>
          <a:p xmlns:a="http://schemas.openxmlformats.org/drawingml/2006/main">
            <a:r>
              <a:t>สิ่งที่อยากให้ผู้ฟังคิดหรือทำ ผู้ฟังเห็นว่าความรู้ของ Business สามารถช่วยสร้างข้อเสนอให้ลูกค้าในอนาคตได้</a:t>
            </a:r>
          </a:p>
          <a:p xmlns:a="http://schemas.openxmlformats.org/drawingml/2006/main">
            <a:r>
              <a:t>เวลา 80 วินาที (ฉบับ 18 นาที) / 75 วินาที (ฉบับ 15 นาที)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บทพูด</a:t>
            </a:r>
          </a:p>
          <a:p xmlns:a="http://schemas.openxmlformats.org/drawingml/2006/main">
            <a:r>
              <a:t>ก่อนเสนอให้ลูกค้า เราควรตอบได้ว่าของเราทำแล้วได้ผลจริงหรือไม่ ทำซ้ำในอีกไลน์ได้หรือไม่ และลูกค้ามีปัญหาแบบเดียวกันพร้อมจ่ายเพื่อแก้หรือไม่ เมื่อผ่านเงื่อนไขเหล่านี้ จึงออกแบบขอบเขตบริการ ต้นทุนการส่งมอบ และการดูแลหลังใช้งาน แล้วทดสอบกับลูกค้า การขยายในเอเชียตะวันออกเฉียงใต้ยังต้องมีความสามารถส่งมอบและดูแลในแต่ละตลาด Pilot แรกจึงเป็นหลักฐานและความรู้ตั้งต้นที่เราใช้สร้างความน่าเชื่อถือต่อได้ครับ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จังหวะการนำเสนอ</a:t>
            </a:r>
          </a:p>
          <a:p xmlns:a="http://schemas.openxmlformats.org/drawingml/2006/main">
            <a:r>
              <a:t>พูดด้วยน้ำเสียงมั่นคง เว้นจังหวะที่ ‘ลูกค้ามีปัญหาและพร้อมจ่าย’ เพื่อให้เห็นเงื่อนไขทางธุรกิจ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ประโยคเชื่อม</a:t>
            </a:r>
          </a:p>
          <a:p xmlns:a="http://schemas.openxmlformats.org/drawingml/2006/main">
            <a:r>
              <a:t>คำถามที่อยากฝากไว้จึงกลับมาที่ Business ของเราในวันนี้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ข้อควรระวังในการสื่อสาร</a:t>
            </a:r>
          </a:p>
          <a:p xmlns:a="http://schemas.openxmlformats.org/drawingml/2006/main">
            <a:r>
              <a:t>การทดลองภายในสำเร็จไม่ยืนยันรายได้ ความต้องการลูกค้า หรือความพร้อมขยายต่างประเทศ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แหล่งอ้างอิง</a:t>
            </a:r>
          </a:p>
          <a:p xmlns:a="http://schemas.openxmlformats.org/drawingml/2006/main">
            <a:r>
              <a:t>บริบทและข้อเสนอของผู้บรรยายสำหรับ PCC Forum วันที่ 1 ตุลาคม 2569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12 มาเริ่มที่ธุรกิจเราก่อน</a:t>
            </a:r>
          </a:p>
          <a:p xmlns:a="http://schemas.openxmlformats.org/drawingml/2006/main">
            <a:r>
              <a:t>เป้าหมาย สร้างแรงดึงจาก Business และชวนให้เริ่มบทสนทนาหลัง Forum</a:t>
            </a:r>
          </a:p>
          <a:p xmlns:a="http://schemas.openxmlformats.org/drawingml/2006/main">
            <a:r>
              <a:t>สิ่งที่อยากให้ผู้ฟังคิดหรือทำ Business ที่สนใจพร้อมเสนอหนึ่งไลน์ ผู้ร่วมงาน และข้อมูลตั้งต้นให้ทีม Factory 4.0–ESG คุยต่อ</a:t>
            </a:r>
          </a:p>
          <a:p xmlns:a="http://schemas.openxmlformats.org/drawingml/2006/main">
            <a:r>
              <a:t>เวลา 60 วินาที (ฉบับ 18 นาที) / 60 วินาที (ฉบับ 15 นาที)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บทพูด</a:t>
            </a:r>
          </a:p>
          <a:p xmlns:a="http://schemas.openxmlformats.org/drawingml/2006/main">
            <a:r>
              <a:t>วันนี้ผมอยากให้แต่ละ Business ลองนึกว่า ถ้าเลือกหนึ่งไลน์ที่เราอยากเห็นไฟฟ้า ต้นทุน และคาร์บอนชัดขึ้น จะเป็นไลน์ไหน และใครควรมาร่วมทำด้วย หลังจบ Forum ขอชวน Business ที่สนใจคุยกับทีม Factory 4.0–ESG โดยเริ่มจากหนึ่งโจทย์ที่อยากแก้ คนที่พร้อมลงแรง และข้อมูลที่มีอยู่แล้ว เราจะช่วยกันสำรวจความเหมาะสมและเลือกจุดเริ่มต้นที่ทำได้จริง ผมหวังว่าจะได้ยินจากหลาย Business ว่า มาเริ่มที่ธุรกิจเราก่อนครับ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จังหวะการนำเสนอ</a:t>
            </a:r>
          </a:p>
          <a:p xmlns:a="http://schemas.openxmlformats.org/drawingml/2006/main">
            <a:r>
              <a:t>หยุด 5 วินาทีหลังถามไลน์ไหน มองผู้ฟังและจบด้วยคำเชิญ ไม่เปลี่ยนเป็นการขออนุมัติงบในห้อง ค้างสไลด์นี้ไว้รับคำถาม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ประโยคเชื่อม</a:t>
            </a:r>
          </a:p>
          <a:p xmlns:a="http://schemas.openxmlformats.org/drawingml/2006/main">
            <a:r>
              <a:t>หากมีคำถามเชิงเทคนิค ใช้ภาคผนวกเฉพาะหน้าที่เกี่ยวข้อง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ข้อควรระวังในการสื่อสาร</a:t>
            </a:r>
          </a:p>
          <a:p xmlns:a="http://schemas.openxmlformats.org/drawingml/2006/main">
            <a:r>
              <a:t>ความสนใจยังไม่เท่ากับอนุมัติเริ่มงาน ต้องตกลงขอบเขต คน เวลา ข้อมูล และอำนาจก่อนทดลอง ไม่สัญญาว่าจะเริ่มทุก Business พร้อมกัน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แหล่งอ้างอิง</a:t>
            </a:r>
          </a:p>
          <a:p xmlns:a="http://schemas.openxmlformats.org/drawingml/2006/main">
            <a:r>
              <a:t>บริบทและข้อเสนอของผู้บรรยายสำหรับ PCC Forum วันที่ 1 ตุลาคม 2569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13 RAMI 4.0 กับขอบเขต Pilot</a:t>
            </a:r>
          </a:p>
          <a:p xmlns:a="http://schemas.openxmlformats.org/drawingml/2006/main">
            <a:r>
              <a:t>เป้าหมาย ตอบคำถามว่าทำไมเลือกโจทย์หนึ่งเรื่องแล้วต้องเชื่อมหลายส่วนของระบบ</a:t>
            </a:r>
          </a:p>
          <a:p xmlns:a="http://schemas.openxmlformats.org/drawingml/2006/main">
            <a:r>
              <a:t>สิ่งที่อยากให้ผู้ฟังคิดหรือทำ ผู้ถามเข้าใจสามแกนของ RAMI และขอบเขตที่เกี่ยวข้องกับ Pilot โดยไม่มองว่าต้องทำทั้ง Cube</a:t>
            </a:r>
          </a:p>
          <a:p xmlns:a="http://schemas.openxmlformats.org/drawingml/2006/main">
            <a:r>
              <a:t>เวลา ใช้เมื่อมีคำถาม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บทพูด</a:t>
            </a:r>
          </a:p>
          <a:p xmlns:a="http://schemas.openxmlformats.org/drawingml/2006/main">
            <a:r>
              <a:t>RAMI 4.0 เป็นกรอบจัดความสัมพันธ์สามแกน ได้แก่ ชั้นของระบบ วงจรชีวิต และระดับของระบบ Pilot นี้เน้นช่วงใช้งานของเครื่องจักรจริง เชื่อมอุปกรณ์กับไลน์ผลิตและผู้รับผิดชอบในองค์กร และพิจารณาตั้งแต่เครื่องจักรถึงกติกาทางธุรกิจ เราเลือกโจทย์ใช้งานหนึ่งเรื่อง แล้วเชื่อมส่วนที่จำเป็น ส่วน SGAM จะช่วยเมื่อขยายไปเรื่องการจัดการพลังงานและจุดเชื่อมกับระบบไฟฟ้าครับ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จังหวะการนำเสนอ</a:t>
            </a:r>
          </a:p>
          <a:p xmlns:a="http://schemas.openxmlformats.org/drawingml/2006/main">
            <a:r>
              <a:t>ใช้เมื่อมีคนถาม RAMI หรือ Cube อธิบายไม่เกิน 90 วินาที ชี้แกนทีละแกน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ประโยคเชื่อม</a:t>
            </a:r>
          </a:p>
          <a:p xmlns:a="http://schemas.openxmlformats.org/drawingml/2006/main">
            <a:r>
              <a:t>หากถามการคำนวณหรือการรับรองผล ใช้สไลด์ 14 ต่อ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ข้อควรระวังในการสื่อสาร</a:t>
            </a:r>
          </a:p>
          <a:p xmlns:a="http://schemas.openxmlformats.org/drawingml/2006/main">
            <a:r>
              <a:t>RAMI และ SGAM เป็นกรอบอ้างอิงคนละมุม ไม่มีการเชื่อมระบบอัตโนมัติจากการวาด Cube และยังไม่ใช่คำยืนยันว่าระบบผ่านมาตรฐานใด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แหล่งอ้างอิง</a:t>
            </a:r>
          </a:p>
          <a:p xmlns:a="http://schemas.openxmlformats.org/drawingml/2006/main">
            <a:r>
              <a:t>DKE — RAMI 4.0</a:t>
            </a:r>
          </a:p>
          <a:p xmlns:a="http://schemas.openxmlformats.org/drawingml/2006/main">
            <a:r>
              <a:t>https://www.dke.de/de/arbeitsfelder/industry/rami40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IEC — SGAM basics</a:t>
            </a:r>
          </a:p>
          <a:p xmlns:a="http://schemas.openxmlformats.org/drawingml/2006/main">
            <a:r>
              <a:t>https://syc-se.iec.ch/deliveries/sgam-basics/</a:t>
            </a:r>
          </a:p>
          <a:p xmlns:a="http://schemas.openxmlformats.org/drawingml/2006/main">
            <a:r>
              <a:t>ภาพ RAMI 4.0: Plattform Industrie 4.0 เผยแพร่บนเว็บไซต์ DKE</a:t>
            </a:r>
          </a:p>
          <a:p xmlns:a="http://schemas.openxmlformats.org/drawingml/2006/main">
            <a:r>
              <a:t>https://www.dke.de/resource/blob/2171330/ea40666360585b2ec619ba7fa7d3bf50/rami40-ebenenmodell-data.png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14 หลักวัดพลังงาน ต้นทุน และคาร์บอน</a:t>
            </a:r>
          </a:p>
          <a:p xmlns:a="http://schemas.openxmlformats.org/drawingml/2006/main">
            <a:r>
              <a:t>เป้าหมาย ให้วิศวกรรม การเงิน และ ESG ตรวจสอบหลักการวัดผลร่วมกันได้</a:t>
            </a:r>
          </a:p>
          <a:p xmlns:a="http://schemas.openxmlformats.org/drawingml/2006/main">
            <a:r>
              <a:t>สิ่งที่อยากให้ผู้ฟังคิดหรือทำ ผู้ถามเห็นข้อกำหนดที่ต้องตกลงก่อนอ้างผลประหยัดและการลด GHG</a:t>
            </a:r>
          </a:p>
          <a:p xmlns:a="http://schemas.openxmlformats.org/drawingml/2006/main">
            <a:r>
              <a:t>เวลา ใช้เมื่อมีคำถาม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บทพูด</a:t>
            </a:r>
          </a:p>
          <a:p xmlns:a="http://schemas.openxmlformats.org/drawingml/2006/main">
            <a:r>
              <a:t>หลักคำนวณเริ่มจากขอบเขตมิเตอร์และช่วงเวลาที่ชัด ประหยัดไฟที่ปรับเงื่อนไขแล้วคือไฟตามค่าฐานภายใต้เงื่อนไขหลังปรับ ลบไฟที่ใช้จริงหลังปรับ เงินที่ลดได้ต้องใช้โครงสร้างค่าไฟที่เกี่ยวข้องจริง แล้วหักค่าใช้จ่ายเพิ่ม ส่วนก๊าซเรือนกระจกจากไฟฟ้าคำนวณจากกิโลวัตต์ชั่วโมงคูณค่าการปล่อยที่เหมาะสมกับรอบรายงานและวิธีบัญชี ต้องแสดงยอดรวมและต่อหน่วยแยกกัน และไม่เอาผล Pilot ไปหักซ้ำจากบัญชีทั้งองค์กรครับ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จังหวะการนำเสนอ</a:t>
            </a:r>
          </a:p>
          <a:p xmlns:a="http://schemas.openxmlformats.org/drawingml/2006/main">
            <a:r>
              <a:t>ใช้ตอบเรื่องตัวเลข ไม่อ่านทุกแถว หากยังไม่มีตัวแปรจริงให้ยืนยันว่าต้องตกลงวิธีก่อนเริ่ม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ประโยคเชื่อม</a:t>
            </a:r>
          </a:p>
          <a:p xmlns:a="http://schemas.openxmlformats.org/drawingml/2006/main">
            <a:r>
              <a:t>หากถามว่าจะเริ่มอย่างไร ใช้สไลด์ 15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ข้อควรระวังในการสื่อสาร</a:t>
            </a:r>
          </a:p>
          <a:p xmlns:a="http://schemas.openxmlformats.org/drawingml/2006/main">
            <a:r>
              <a:t>ผลประหยัดเทียบค่าฐานกับการเปลี่ยนยอดปล่อยจริงขององค์กรเป็นคนละการเปรียบเทียบ ต้องรายงานแยกกัน และไม่ใช่คาร์บอนเครดิตโดยอัตโนมัติ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แหล่งอ้างอิง</a:t>
            </a:r>
          </a:p>
          <a:p xmlns:a="http://schemas.openxmlformats.org/drawingml/2006/main">
            <a:r>
              <a:t>GHG Protocol — Scope 2 Guidance</a:t>
            </a:r>
          </a:p>
          <a:p xmlns:a="http://schemas.openxmlformats.org/drawingml/2006/main">
            <a:r>
              <a:t>https://ghgprotocol.org/scope-2-guidance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ISO 50006:2023</a:t>
            </a:r>
          </a:p>
          <a:p xmlns:a="http://schemas.openxmlformats.org/drawingml/2006/main">
            <a:r>
              <a:t>https://www.iso.org/standard/79367.html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15 บทสนทนาแรกกับ Business</a:t>
            </a:r>
          </a:p>
          <a:p xmlns:a="http://schemas.openxmlformats.org/drawingml/2006/main">
            <a:r>
              <a:t>เป้าหมาย เปลี่ยนความสนใจหลัง Forum ให้เป็นการสำรวจที่มีคนและข้อมูลรองรับ</a:t>
            </a:r>
          </a:p>
          <a:p xmlns:a="http://schemas.openxmlformats.org/drawingml/2006/main">
            <a:r>
              <a:t>สิ่งที่อยากให้ผู้ฟังคิดหรือทำ Business รู้ว่าควรนำอะไรเข้าการคุยครั้งแรก และอะไรทำให้เดินต่อ ปรับขอบเขต หรือหยุดได้</a:t>
            </a:r>
          </a:p>
          <a:p xmlns:a="http://schemas.openxmlformats.org/drawingml/2006/main">
            <a:r>
              <a:t>เวลา ใช้เมื่อมีคำถาม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บทพูด</a:t>
            </a:r>
          </a:p>
          <a:p xmlns:a="http://schemas.openxmlformats.org/drawingml/2006/main">
            <a:r>
              <a:t>ในการคุยครั้งแรก เราอยากรู้ปัญหาที่ Business ให้ความสำคัญ ขอบเขตไลน์และเครื่องจักร ข้อมูลที่มี คนที่เข้าใจกระบวนการและมีเวลาร่วมทำ รวมถึงเงื่อนไขที่ห้ามกระทบ ถ้ามีโอกาสที่วัดได้และทดลองได้อย่างปลอดภัยจึงออกแบบ Pilot ต่อ ถ้าข้อมูลยังไม่พออาจเริ่มเก็บเฉพาะจุด และถ้าโอกาสเล็กหรือการทดลองเสี่ยงกับการผลิตก็ควรปรับโจทย์หรือเลือกไลน์อื่น การเลือกไลน์แรกจะพิจารณาประโยชน์ ความพร้อม และความสามารถนำไปใช้ซ้ำร่วมกันครับ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จังหวะการนำเสนอ</a:t>
            </a:r>
          </a:p>
          <a:p xmlns:a="http://schemas.openxmlformats.org/drawingml/2006/main">
            <a:r>
              <a:t>ใช้หลังปิดหรือคุยกลุ่มย่อย เชิญตัวแทน Business และทีม Factory 4.0–ESG กำหนดนัดหมายเอง ไม่ใส่ชื่อบุคคลที่ยังไม่ยืนยัน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ประโยคเชื่อม</a:t>
            </a:r>
          </a:p>
          <a:p xmlns:a="http://schemas.openxmlformats.org/drawingml/2006/main">
            <a:r>
              <a:t>สรุปผู้ประสานงานและสิ่งที่จะนำมาคุยในนัดถัดไปตามที่ทั้งสองฝ่ายตกลง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ข้อควรระวังในการสื่อสาร</a:t>
            </a:r>
          </a:p>
          <a:p xmlns:a="http://schemas.openxmlformats.org/drawingml/2006/main">
            <a:r>
              <a:t>เป็นแนวทางสำรวจที่เสนอ ยังไม่มีการอนุมัติงบหรือทรัพยากรของ Business ใด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แหล่งอ้างอิง</a:t>
            </a:r>
          </a:p>
          <a:p xmlns:a="http://schemas.openxmlformats.org/drawingml/2006/main">
            <a:r>
              <a:t>บริบทและข้อเสนอของผู้บรรยายสำหรับ PCC Forum วันที่ 1 ตุลาคม 2569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96c2ea9b5748d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4ea5a7105e9409b" /><Relationship Type="http://schemas.openxmlformats.org/officeDocument/2006/relationships/slideLayout" Target="/ppt/slideLayouts/slideLayout1.xml" Id="R1b94721f502244a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b94721f502244a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811fdc497c410f" /><Relationship Type="http://schemas.openxmlformats.org/officeDocument/2006/relationships/image" Target="/ppt/media/image.png" Id="R515a2bfa8f0d43e5" /><Relationship Type="http://schemas.openxmlformats.org/officeDocument/2006/relationships/image" Target="/ppt/media/image2.png" Id="R4d4cd407a3564c4a" /><Relationship Type="http://schemas.openxmlformats.org/officeDocument/2006/relationships/notesSlide" Target="/ppt/notesSlides/notesSlide1.xml" Id="R58d0b6a02e7546a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be230c525e46d4" /><Relationship Type="http://schemas.openxmlformats.org/officeDocument/2006/relationships/image" Target="/ppt/media/image3.png" Id="Rc9efe36a434f4bdd" /><Relationship Type="http://schemas.openxmlformats.org/officeDocument/2006/relationships/notesSlide" Target="/ppt/notesSlides/notesSlide2.xml" Id="R41bcb4283d5645a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489889e61e43d3" /><Relationship Type="http://schemas.openxmlformats.org/officeDocument/2006/relationships/image" Target="/ppt/media/image4.png" Id="R4a419947adca472b" /><Relationship Type="http://schemas.openxmlformats.org/officeDocument/2006/relationships/notesSlide" Target="/ppt/notesSlides/notesSlide3.xml" Id="Ra03b7f8ebb4a4d5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4ddd5955a24306" /><Relationship Type="http://schemas.openxmlformats.org/officeDocument/2006/relationships/image" Target="/ppt/media/image5.png" Id="R4ab36c995c9d4c1b" /><Relationship Type="http://schemas.openxmlformats.org/officeDocument/2006/relationships/notesSlide" Target="/ppt/notesSlides/notesSlide4.xml" Id="Rc19ef73ee6af476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3f6af109aa4b02" /><Relationship Type="http://schemas.openxmlformats.org/officeDocument/2006/relationships/image" Target="/ppt/media/image6.png" Id="Rdc8c26bf9e1449d6" /><Relationship Type="http://schemas.openxmlformats.org/officeDocument/2006/relationships/notesSlide" Target="/ppt/notesSlides/notesSlide5.xml" Id="R6782a22626bf4e4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360b938ce64bed" /><Relationship Type="http://schemas.openxmlformats.org/officeDocument/2006/relationships/image" Target="/ppt/media/image7.png" Id="Rc73c7b45875f4f5f" /><Relationship Type="http://schemas.openxmlformats.org/officeDocument/2006/relationships/notesSlide" Target="/ppt/notesSlides/notesSlide6.xml" Id="Rc9e189d5a130473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38cb741f8948f4" /><Relationship Type="http://schemas.openxmlformats.org/officeDocument/2006/relationships/image" Target="/ppt/media/image8.png" Id="Rea2f7703a50b401d" /><Relationship Type="http://schemas.openxmlformats.org/officeDocument/2006/relationships/notesSlide" Target="/ppt/notesSlides/notesSlide7.xml" Id="Rf96099c38fab44d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2414c0b86e4317" /><Relationship Type="http://schemas.openxmlformats.org/officeDocument/2006/relationships/image" Target="/ppt/media/image9.png" Id="Rf5cb24e0a372467d" /><Relationship Type="http://schemas.openxmlformats.org/officeDocument/2006/relationships/notesSlide" Target="/ppt/notesSlides/notesSlide8.xml" Id="R3bf7ed264a5440a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8a3a2f5e8c4805" /><Relationship Type="http://schemas.openxmlformats.org/officeDocument/2006/relationships/image" Target="/ppt/media/image10.png" Id="Rbd26df2eedac463c" /><Relationship Type="http://schemas.openxmlformats.org/officeDocument/2006/relationships/notesSlide" Target="/ppt/notesSlides/notesSlide9.xml" Id="R9c5693cbbdce47b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d3bdbe40c641e7" /><Relationship Type="http://schemas.openxmlformats.org/officeDocument/2006/relationships/image" Target="/ppt/media/image11.png" Id="Rcabe1a27664b4b46" /><Relationship Type="http://schemas.openxmlformats.org/officeDocument/2006/relationships/notesSlide" Target="/ppt/notesSlides/notesSlide10.xml" Id="R86060952c4eb46a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d1dc5553004d05" /><Relationship Type="http://schemas.openxmlformats.org/officeDocument/2006/relationships/image" Target="/ppt/media/image12.png" Id="Rb67806368c8f49ae" /><Relationship Type="http://schemas.openxmlformats.org/officeDocument/2006/relationships/notesSlide" Target="/ppt/notesSlides/notesSlide11.xml" Id="Rb7629fecb0014b2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4c39d47bd74df5" /><Relationship Type="http://schemas.openxmlformats.org/officeDocument/2006/relationships/image" Target="/ppt/media/image13.png" Id="R7c1273ce33eb4d15" /><Relationship Type="http://schemas.openxmlformats.org/officeDocument/2006/relationships/notesSlide" Target="/ppt/notesSlides/notesSlide12.xml" Id="R2816d8feb49c49e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74c60883e144cb" /><Relationship Type="http://schemas.openxmlformats.org/officeDocument/2006/relationships/image" Target="/ppt/media/image14.png" Id="Rd5bca3d24b674e1e" /><Relationship Type="http://schemas.openxmlformats.org/officeDocument/2006/relationships/image" Target="/ppt/media/image15.png" Id="R6b431168a75f487b" /><Relationship Type="http://schemas.openxmlformats.org/officeDocument/2006/relationships/notesSlide" Target="/ppt/notesSlides/notesSlide13.xml" Id="Re5daa6acba9e493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b83841607746a9" /><Relationship Type="http://schemas.openxmlformats.org/officeDocument/2006/relationships/image" Target="/ppt/media/image16.png" Id="R405c6dc28e674c7f" /><Relationship Type="http://schemas.openxmlformats.org/officeDocument/2006/relationships/notesSlide" Target="/ppt/notesSlides/notesSlide14.xml" Id="R3c93a10e941a461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c4bc322d6f4938" /><Relationship Type="http://schemas.openxmlformats.org/officeDocument/2006/relationships/image" Target="/ppt/media/image17.png" Id="Rcc4555f65e6e4e50" /><Relationship Type="http://schemas.openxmlformats.org/officeDocument/2006/relationships/notesSlide" Target="/ppt/notesSlides/notesSlide15.xml" Id="R85b43a37b3d14d9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C4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5a2bfa8f0d43e5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4cd407a3564c4a"/>
          <a:stretch xmlns:a="http://schemas.openxmlformats.org/drawingml/2006/main"/>
        </p:blipFill>
        <p:spPr>
          <a:xfrm xmlns:a="http://schemas.openxmlformats.org/drawingml/2006/main">
            <a:off x="609600" y="457207"/>
            <a:ext cx="2381250" cy="374891"/>
          </a:xfrm>
          <a:prstGeom xmlns:a="http://schemas.openxmlformats.org/drawingml/2006/main" prst="rect">
            <a:avLst/>
          </a:prstGeom>
        </p:spPr>
      </p:pic>
      <p:sp>
        <p:nvSpPr>
          <p:cNvPr id="3" name="เครื่องหยุดผลิตแล้ว&#10;ไฟหยุดด้วยหรือยัง">
            <a:extLst xmlns:a="http://schemas.openxmlformats.org/drawingml/2006/main">
              <a:ext uri="{FF2B5EF4-FFF2-40B4-BE49-F238E27FC236}">
                <a16:creationId xmlns:a16="http://schemas.microsoft.com/office/drawing/2014/main" id="{64D4A0C9-9356-4A86-A9BA-555778CB1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626745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425" b="1">
                <a:solidFill>
                  <a:srgbClr val="FFFFFF"/>
                </a:solidFill>
                <a:latin typeface="Sarabun"/>
                <a:ea typeface="Sarabun"/>
                <a:cs typeface="Sarabun"/>
              </a:defRPr>
            </a:pPr>
            <a:r>
              <a:rPr sz="4425" b="1">
                <a:solidFill>
                  <a:srgbClr val="FFFFFF"/>
                </a:solidFill>
                <a:latin typeface="Sarabun"/>
                <a:ea typeface="Sarabun"/>
                <a:cs typeface="Sarabun"/>
              </a:rPr>
              <a:t>เครื่องหยุดผลิตแล้ว</a:t>
            </a:r>
          </a:p>
          <a:p xmlns:a="http://schemas.openxmlformats.org/drawingml/2006/main">
            <a:pPr algn="l">
              <a:defRPr sz="4425" b="1">
                <a:solidFill>
                  <a:srgbClr val="FFFFFF"/>
                </a:solidFill>
                <a:latin typeface="Sarabun"/>
                <a:ea typeface="Sarabun"/>
                <a:cs typeface="Sarabun"/>
              </a:defRPr>
            </a:pPr>
            <a:r>
              <a:rPr sz="4425" b="1">
                <a:solidFill>
                  <a:srgbClr val="FFFFFF"/>
                </a:solidFill>
                <a:latin typeface="Sarabun"/>
                <a:ea typeface="Sarabun"/>
                <a:cs typeface="Sarabun"/>
              </a:rPr>
              <a:t>ไฟหยุดด้วยหรือยัง</a:t>
            </a:r>
          </a:p>
        </p:txBody>
      </p:sp>
      <p:sp>
        <p:nvSpPr>
          <p:cNvPr id="4" name="PCC Smart &amp;&#10;Sustainable Factory">
            <a:extLst xmlns:a="http://schemas.openxmlformats.org/drawingml/2006/main">
              <a:ext uri="{FF2B5EF4-FFF2-40B4-BE49-F238E27FC236}">
                <a16:creationId xmlns:a16="http://schemas.microsoft.com/office/drawing/2014/main" id="{378F052D-85D0-46A5-B9BF-AABBBCAE7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62400"/>
            <a:ext cx="5905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68CAEC"/>
                </a:solidFill>
                <a:latin typeface="Sarabun"/>
                <a:ea typeface="Sarabun"/>
                <a:cs typeface="Sarabun"/>
              </a:defRPr>
            </a:pPr>
            <a:r>
              <a:rPr sz="2550" b="1">
                <a:solidFill>
                  <a:srgbClr val="68CAEC"/>
                </a:solidFill>
                <a:latin typeface="Sarabun"/>
                <a:ea typeface="Sarabun"/>
                <a:cs typeface="Sarabun"/>
              </a:rPr>
              <a:t>PCC Smart &amp;</a:t>
            </a:r>
          </a:p>
          <a:p xmlns:a="http://schemas.openxmlformats.org/drawingml/2006/main">
            <a:pPr algn="l">
              <a:defRPr sz="2550" b="1">
                <a:solidFill>
                  <a:srgbClr val="68CAEC"/>
                </a:solidFill>
                <a:latin typeface="Sarabun"/>
                <a:ea typeface="Sarabun"/>
                <a:cs typeface="Sarabun"/>
              </a:defRPr>
            </a:pPr>
            <a:r>
              <a:rPr sz="2550" b="1">
                <a:solidFill>
                  <a:srgbClr val="68CAEC"/>
                </a:solidFill>
                <a:latin typeface="Sarabun"/>
                <a:ea typeface="Sarabun"/>
                <a:cs typeface="Sarabun"/>
              </a:rPr>
              <a:t>Sustainable Factory</a:t>
            </a:r>
          </a:p>
        </p:txBody>
      </p:sp>
      <p:sp>
        <p:nvSpPr>
          <p:cNvPr id="5" name="หนึ่งไลน์ผลิตที่เชื่อม&#10;ต้นทุน พลังงาน และคาร์บอน">
            <a:extLst xmlns:a="http://schemas.openxmlformats.org/drawingml/2006/main">
              <a:ext uri="{FF2B5EF4-FFF2-40B4-BE49-F238E27FC236}">
                <a16:creationId xmlns:a16="http://schemas.microsoft.com/office/drawing/2014/main" id="{E50BD4F5-DEF8-420B-B04E-E6D18D314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10150"/>
            <a:ext cx="5810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FFFFFF"/>
                </a:solidFill>
                <a:latin typeface="Sarabun"/>
                <a:ea typeface="Sarabun"/>
                <a:cs typeface="Sarabun"/>
              </a:defRPr>
            </a:pPr>
            <a:r>
              <a:rPr sz="2100" b="0">
                <a:solidFill>
                  <a:srgbClr val="FFFFFF"/>
                </a:solidFill>
                <a:latin typeface="Sarabun"/>
                <a:ea typeface="Sarabun"/>
                <a:cs typeface="Sarabun"/>
              </a:rPr>
              <a:t>หนึ่งไลน์ผลิตที่เชื่อม</a:t>
            </a:r>
          </a:p>
          <a:p xmlns:a="http://schemas.openxmlformats.org/drawingml/2006/main">
            <a:pPr algn="l">
              <a:defRPr sz="2100" b="0">
                <a:solidFill>
                  <a:srgbClr val="FFFFFF"/>
                </a:solidFill>
                <a:latin typeface="Sarabun"/>
                <a:ea typeface="Sarabun"/>
                <a:cs typeface="Sarabun"/>
              </a:defRPr>
            </a:pPr>
            <a:r>
              <a:rPr sz="2100" b="0">
                <a:solidFill>
                  <a:srgbClr val="FFFFFF"/>
                </a:solidFill>
                <a:latin typeface="Sarabun"/>
                <a:ea typeface="Sarabun"/>
                <a:cs typeface="Sarabun"/>
              </a:rPr>
              <a:t>ต้นทุน พลังงาน และคาร์บอน</a:t>
            </a:r>
          </a:p>
        </p:txBody>
      </p:sp>
      <p:sp>
        <p:nvSpPr>
          <p:cNvPr id="6" name="ภาพประกอบเชิงแนวคิด">
            <a:extLst xmlns:a="http://schemas.openxmlformats.org/drawingml/2006/main">
              <a:ext uri="{FF2B5EF4-FFF2-40B4-BE49-F238E27FC236}">
                <a16:creationId xmlns:a16="http://schemas.microsoft.com/office/drawing/2014/main" id="{A78ED907-E35B-4946-91AD-953EDBDB2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286500"/>
            <a:ext cx="1857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DDEBF2"/>
                </a:solidFill>
                <a:latin typeface="Sarabun"/>
                <a:ea typeface="Sarabun"/>
                <a:cs typeface="Sarabun"/>
              </a:defRPr>
            </a:pPr>
            <a:r>
              <a:rPr sz="1275" b="0">
                <a:solidFill>
                  <a:srgbClr val="DDEBF2"/>
                </a:solidFill>
                <a:latin typeface="Sarabun"/>
                <a:ea typeface="Sarabun"/>
                <a:cs typeface="Sarabun"/>
              </a:rPr>
              <a:t>ภาพประกอบเชิงแนวคิด</a:t>
            </a:r>
          </a:p>
        </p:txBody>
      </p:sp>
      <p:sp>
        <p:nvSpPr>
          <p:cNvPr id="7" name="PCC Forum   1 ตุลาคม 2569">
            <a:extLst xmlns:a="http://schemas.openxmlformats.org/drawingml/2006/main">
              <a:ext uri="{FF2B5EF4-FFF2-40B4-BE49-F238E27FC236}">
                <a16:creationId xmlns:a16="http://schemas.microsoft.com/office/drawing/2014/main" id="{6BC4D677-C3A3-49A9-BF86-ED4D8879B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771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DEBF2"/>
                </a:solidFill>
                <a:latin typeface="Sarabun"/>
                <a:ea typeface="Sarabun"/>
                <a:cs typeface="Sarabun"/>
              </a:defRPr>
            </a:pPr>
            <a:r>
              <a:rPr sz="1350" b="0">
                <a:solidFill>
                  <a:srgbClr val="DDEBF2"/>
                </a:solidFill>
                <a:latin typeface="Sarabun"/>
                <a:ea typeface="Sarabun"/>
                <a:cs typeface="Sarabun"/>
              </a:rPr>
              <a:t>PCC Forum   1 ตุลาคม 2569</a:t>
            </a:r>
          </a:p>
        </p:txBody>
      </p:sp>
    </p:spTree>
    <p:extLst>
      <p:ext uri="{BB962C8B-B14F-4D97-AF65-F5344CB8AC3E}">
        <p14:creationId xmlns:p14="http://schemas.microsoft.com/office/powerpoint/2010/main" val="162898620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PCC Forum   1 ตุลาคม 2569">
            <a:extLst xmlns:a="http://schemas.openxmlformats.org/drawingml/2006/main">
              <a:ext uri="{FF2B5EF4-FFF2-40B4-BE49-F238E27FC236}">
                <a16:creationId xmlns:a16="http://schemas.microsoft.com/office/drawing/2014/main" id="{DFC64538-AA25-48BB-B412-54EF54D8F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7083"/>
                </a:solidFill>
                <a:latin typeface="Sarabun"/>
                <a:ea typeface="Sarabun"/>
                <a:cs typeface="Sarabun"/>
              </a:defRPr>
            </a:pPr>
            <a:r>
              <a:rPr sz="1275" b="0">
                <a:solidFill>
                  <a:srgbClr val="527083"/>
                </a:solidFill>
                <a:latin typeface="Sarabun"/>
                <a:ea typeface="Sarabun"/>
                <a:cs typeface="Sarabun"/>
              </a:rPr>
              <a:t>PCC Forum   1 ตุลาคม 2569</a:t>
            </a:r>
          </a:p>
        </p:txBody>
      </p:sp>
      <p:sp>
        <p:nvSpPr>
          <p:cNvPr id="2" name="02">
            <a:extLst xmlns:a="http://schemas.openxmlformats.org/drawingml/2006/main">
              <a:ext uri="{FF2B5EF4-FFF2-40B4-BE49-F238E27FC236}">
                <a16:creationId xmlns:a16="http://schemas.microsoft.com/office/drawing/2014/main" id="{E6AE488C-67C9-46CE-A4F7-2D42E3020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527083"/>
                </a:solidFill>
                <a:latin typeface="Sarabun"/>
                <a:ea typeface="Sarabun"/>
                <a:cs typeface="Sarabun"/>
              </a:defRPr>
            </a:pPr>
            <a:r>
              <a:rPr sz="1500" b="1">
                <a:solidFill>
                  <a:srgbClr val="527083"/>
                </a:solidFill>
                <a:latin typeface="Sarabun"/>
                <a:ea typeface="Sarabun"/>
                <a:cs typeface="Sarabun"/>
              </a:rPr>
              <a:t>02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efe36a434f4bdd"/>
          <a:stretch xmlns:a="http://schemas.openxmlformats.org/drawingml/2006/main"/>
        </p:blipFill>
        <p:spPr>
          <a:xfrm xmlns:a="http://schemas.openxmlformats.org/drawingml/2006/main">
            <a:off x="609600" y="438157"/>
            <a:ext cx="2381250" cy="374891"/>
          </a:xfrm>
          <a:prstGeom xmlns:a="http://schemas.openxmlformats.org/drawingml/2006/main" prst="rect">
            <a:avLst/>
          </a:prstGeom>
        </p:spPr>
      </p:pic>
      <p:sp>
        <p:nvSpPr>
          <p:cNvPr id="4" name="วิสัยทัศน์ระยะ 10 ปี">
            <a:extLst xmlns:a="http://schemas.openxmlformats.org/drawingml/2006/main">
              <a:ext uri="{FF2B5EF4-FFF2-40B4-BE49-F238E27FC236}">
                <a16:creationId xmlns:a16="http://schemas.microsoft.com/office/drawing/2014/main" id="{9B26936E-C74D-4C20-90F6-D190EA5A6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27083"/>
                </a:solidFill>
                <a:latin typeface="Sarabun"/>
                <a:ea typeface="Sarabun"/>
                <a:cs typeface="Sarabun"/>
              </a:defRPr>
            </a:pPr>
            <a:r>
              <a:rPr sz="2100" b="0">
                <a:solidFill>
                  <a:srgbClr val="527083"/>
                </a:solidFill>
                <a:latin typeface="Sarabun"/>
                <a:ea typeface="Sarabun"/>
                <a:cs typeface="Sarabun"/>
              </a:rPr>
              <a:t>วิสัยทัศน์ระยะ 10 ปี</a:t>
            </a:r>
          </a:p>
        </p:txBody>
      </p:sp>
      <p:sp>
        <p:nvSpPr>
          <p:cNvPr id="5" name="Number One Engineering Firm&#10;of Southeast Asia">
            <a:extLst xmlns:a="http://schemas.openxmlformats.org/drawingml/2006/main">
              <a:ext uri="{FF2B5EF4-FFF2-40B4-BE49-F238E27FC236}">
                <a16:creationId xmlns:a16="http://schemas.microsoft.com/office/drawing/2014/main" id="{560B53D0-692A-4CA7-A991-15B873C9E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9728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53347"/>
                </a:solidFill>
                <a:latin typeface="Sarabun"/>
                <a:ea typeface="Sarabun"/>
                <a:cs typeface="Sarabun"/>
              </a:defRPr>
            </a:pPr>
            <a:r>
              <a:rPr sz="4050" b="1">
                <a:solidFill>
                  <a:srgbClr val="153347"/>
                </a:solidFill>
                <a:latin typeface="Sarabun"/>
                <a:ea typeface="Sarabun"/>
                <a:cs typeface="Sarabun"/>
              </a:rPr>
              <a:t>Number One Engineering Firm</a:t>
            </a:r>
          </a:p>
          <a:p xmlns:a="http://schemas.openxmlformats.org/drawingml/2006/main">
            <a:pPr algn="l">
              <a:defRPr sz="4050" b="1">
                <a:solidFill>
                  <a:srgbClr val="153347"/>
                </a:solidFill>
                <a:latin typeface="Sarabun"/>
                <a:ea typeface="Sarabun"/>
                <a:cs typeface="Sarabun"/>
              </a:defRPr>
            </a:pPr>
            <a:r>
              <a:rPr sz="4050" b="1">
                <a:solidFill>
                  <a:srgbClr val="153347"/>
                </a:solidFill>
                <a:latin typeface="Sarabun"/>
                <a:ea typeface="Sarabun"/>
                <a:cs typeface="Sarabun"/>
              </a:rPr>
              <a:t>of Southeast Asia</a:t>
            </a:r>
          </a:p>
        </p:txBody>
      </p:sp>
      <p:sp>
        <p:nvSpPr>
          <p:cNvPr id="6" name="ความสามารถที่เริ่มพิสูจน์ได้จากโรงงานของเรา">
            <a:extLst xmlns:a="http://schemas.openxmlformats.org/drawingml/2006/main">
              <a:ext uri="{FF2B5EF4-FFF2-40B4-BE49-F238E27FC236}">
                <a16:creationId xmlns:a16="http://schemas.microsoft.com/office/drawing/2014/main" id="{0D0308F2-572A-440E-AD4D-519C76801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81425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09DDC"/>
                </a:solidFill>
                <a:latin typeface="Sarabun"/>
                <a:ea typeface="Sarabun"/>
                <a:cs typeface="Sarabun"/>
              </a:defRPr>
            </a:pPr>
            <a:r>
              <a:rPr sz="2625" b="1">
                <a:solidFill>
                  <a:srgbClr val="009DDC"/>
                </a:solidFill>
                <a:latin typeface="Sarabun"/>
                <a:ea typeface="Sarabun"/>
                <a:cs typeface="Sarabun"/>
              </a:rPr>
              <a:t>ความสามารถที่เริ่มพิสูจน์ได้จากโรงงานของเรา</a:t>
            </a:r>
          </a:p>
        </p:txBody>
      </p:sp>
      <p:sp>
        <p:nvSpPr>
          <p:cNvPr id="7" name="01">
            <a:extLst xmlns:a="http://schemas.openxmlformats.org/drawingml/2006/main">
              <a:ext uri="{FF2B5EF4-FFF2-40B4-BE49-F238E27FC236}">
                <a16:creationId xmlns:a16="http://schemas.microsoft.com/office/drawing/2014/main" id="{BA687B62-9179-487D-B0F8-4DF8BDE3A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304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09DDC"/>
                </a:solidFill>
                <a:latin typeface="Sarabun"/>
                <a:ea typeface="Sarabun"/>
                <a:cs typeface="Sarabun"/>
              </a:defRPr>
            </a:pPr>
            <a:r>
              <a:rPr sz="3225" b="1">
                <a:solidFill>
                  <a:srgbClr val="009DDC"/>
                </a:solidFill>
                <a:latin typeface="Sarabun"/>
                <a:ea typeface="Sarabun"/>
                <a:cs typeface="Sarabun"/>
              </a:rPr>
              <a:t>01</a:t>
            </a:r>
          </a:p>
        </p:txBody>
      </p:sp>
      <p:sp>
        <p:nvSpPr>
          <p:cNvPr id="8" name="พิสูจน์ผลจริงใน PCC">
            <a:extLst xmlns:a="http://schemas.openxmlformats.org/drawingml/2006/main">
              <a:ext uri="{FF2B5EF4-FFF2-40B4-BE49-F238E27FC236}">
                <a16:creationId xmlns:a16="http://schemas.microsoft.com/office/drawing/2014/main" id="{7FCC1E65-867D-410E-B7D6-09C75F5AD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91150"/>
            <a:ext cx="333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53347"/>
                </a:solidFill>
                <a:latin typeface="Sarabun"/>
                <a:ea typeface="Sarabun"/>
                <a:cs typeface="Sarabun"/>
              </a:defRPr>
            </a:pPr>
            <a:r>
              <a:rPr sz="2175" b="1">
                <a:solidFill>
                  <a:srgbClr val="153347"/>
                </a:solidFill>
                <a:latin typeface="Sarabun"/>
                <a:ea typeface="Sarabun"/>
                <a:cs typeface="Sarabun"/>
              </a:rPr>
              <a:t>พิสูจน์ผลจริงใน PCC</a:t>
            </a:r>
          </a:p>
        </p:txBody>
      </p:sp>
      <p:sp>
        <p:nvSpPr>
          <p:cNvPr id="9" name="02">
            <a:extLst xmlns:a="http://schemas.openxmlformats.org/drawingml/2006/main">
              <a:ext uri="{FF2B5EF4-FFF2-40B4-BE49-F238E27FC236}">
                <a16:creationId xmlns:a16="http://schemas.microsoft.com/office/drawing/2014/main" id="{9C059EAD-1DEE-4162-90B3-04CAF442E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762500"/>
            <a:ext cx="304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50B948"/>
                </a:solidFill>
                <a:latin typeface="Sarabun"/>
                <a:ea typeface="Sarabun"/>
                <a:cs typeface="Sarabun"/>
              </a:defRPr>
            </a:pPr>
            <a:r>
              <a:rPr sz="3225" b="1">
                <a:solidFill>
                  <a:srgbClr val="50B948"/>
                </a:solidFill>
                <a:latin typeface="Sarabun"/>
                <a:ea typeface="Sarabun"/>
                <a:cs typeface="Sarabun"/>
              </a:rPr>
              <a:t>02</a:t>
            </a:r>
          </a:p>
        </p:txBody>
      </p:sp>
      <p:sp>
        <p:nvSpPr>
          <p:cNvPr id="10" name="เก็บวิธีให้ทำซ้ำได้">
            <a:extLst xmlns:a="http://schemas.openxmlformats.org/drawingml/2006/main">
              <a:ext uri="{FF2B5EF4-FFF2-40B4-BE49-F238E27FC236}">
                <a16:creationId xmlns:a16="http://schemas.microsoft.com/office/drawing/2014/main" id="{56018705-790F-4241-9163-372A2B78C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391150"/>
            <a:ext cx="333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53347"/>
                </a:solidFill>
                <a:latin typeface="Sarabun"/>
                <a:ea typeface="Sarabun"/>
                <a:cs typeface="Sarabun"/>
              </a:defRPr>
            </a:pPr>
            <a:r>
              <a:rPr sz="2175" b="1">
                <a:solidFill>
                  <a:srgbClr val="153347"/>
                </a:solidFill>
                <a:latin typeface="Sarabun"/>
                <a:ea typeface="Sarabun"/>
                <a:cs typeface="Sarabun"/>
              </a:rPr>
              <a:t>เก็บวิธีให้ทำซ้ำได้</a:t>
            </a:r>
          </a:p>
        </p:txBody>
      </p:sp>
      <p:sp>
        <p:nvSpPr>
          <p:cNvPr id="11" name="03">
            <a:extLst xmlns:a="http://schemas.openxmlformats.org/drawingml/2006/main">
              <a:ext uri="{FF2B5EF4-FFF2-40B4-BE49-F238E27FC236}">
                <a16:creationId xmlns:a16="http://schemas.microsoft.com/office/drawing/2014/main" id="{0E62946B-92AB-4B34-B02A-36DF887E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762500"/>
            <a:ext cx="304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EA7F1E"/>
                </a:solidFill>
                <a:latin typeface="Sarabun"/>
                <a:ea typeface="Sarabun"/>
                <a:cs typeface="Sarabun"/>
              </a:defRPr>
            </a:pPr>
            <a:r>
              <a:rPr sz="3225" b="1">
                <a:solidFill>
                  <a:srgbClr val="EA7F1E"/>
                </a:solidFill>
                <a:latin typeface="Sarabun"/>
                <a:ea typeface="Sarabun"/>
                <a:cs typeface="Sarabun"/>
              </a:rPr>
              <a:t>03</a:t>
            </a:r>
          </a:p>
        </p:txBody>
      </p:sp>
      <p:sp>
        <p:nvSpPr>
          <p:cNvPr id="12" name="สร้างคุณค่าให้ลูกค้า">
            <a:extLst xmlns:a="http://schemas.openxmlformats.org/drawingml/2006/main">
              <a:ext uri="{FF2B5EF4-FFF2-40B4-BE49-F238E27FC236}">
                <a16:creationId xmlns:a16="http://schemas.microsoft.com/office/drawing/2014/main" id="{DEF86A18-D8E0-4EC3-B46E-4F1E6CAFE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391150"/>
            <a:ext cx="333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53347"/>
                </a:solidFill>
                <a:latin typeface="Sarabun"/>
                <a:ea typeface="Sarabun"/>
                <a:cs typeface="Sarabun"/>
              </a:defRPr>
            </a:pPr>
            <a:r>
              <a:rPr sz="2175" b="1">
                <a:solidFill>
                  <a:srgbClr val="153347"/>
                </a:solidFill>
                <a:latin typeface="Sarabun"/>
                <a:ea typeface="Sarabun"/>
                <a:cs typeface="Sarabun"/>
              </a:rPr>
              <a:t>สร้างคุณค่าให้ลูกค้า</a:t>
            </a:r>
          </a:p>
        </p:txBody>
      </p:sp>
    </p:spTree>
    <p:extLst>
      <p:ext uri="{BB962C8B-B14F-4D97-AF65-F5344CB8AC3E}">
        <p14:creationId xmlns:p14="http://schemas.microsoft.com/office/powerpoint/2010/main" val="85651312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419947adca472b"/>
          <a:stretch xmlns:a="http://schemas.openxmlformats.org/drawingml/2006/main"/>
        </p:blipFill>
        <p:spPr>
          <a:xfrm xmlns:a="http://schemas.openxmlformats.org/drawingml/2006/main">
            <a:off x="9810750" y="419109"/>
            <a:ext cx="1714500" cy="269921"/>
          </a:xfrm>
          <a:prstGeom xmlns:a="http://schemas.openxmlformats.org/drawingml/2006/main" prst="rect">
            <a:avLst/>
          </a:prstGeom>
        </p:spPr>
      </p:pic>
      <p:sp>
        <p:nvSpPr>
          <p:cNvPr id="2" name="ข้อมูลที่ต้องเห็นพร้อมกัน">
            <a:extLst xmlns:a="http://schemas.openxmlformats.org/drawingml/2006/main">
              <a:ext uri="{FF2B5EF4-FFF2-40B4-BE49-F238E27FC236}">
                <a16:creationId xmlns:a16="http://schemas.microsoft.com/office/drawing/2014/main" id="{BDD94884-A2D1-43D1-88D4-2A81A420C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53347"/>
                </a:solidFill>
                <a:latin typeface="Sarabun"/>
                <a:ea typeface="Sarabun"/>
                <a:cs typeface="Sarabun"/>
              </a:defRPr>
            </a:pPr>
            <a:r>
              <a:rPr sz="3300" b="1">
                <a:solidFill>
                  <a:srgbClr val="153347"/>
                </a:solidFill>
                <a:latin typeface="Sarabun"/>
                <a:ea typeface="Sarabun"/>
                <a:cs typeface="Sarabun"/>
              </a:rPr>
              <a:t>ข้อมูลที่ต้องเห็นพร้อมกัน</a:t>
            </a:r>
          </a:p>
        </p:txBody>
      </p:sp>
      <p:sp>
        <p:nvSpPr>
          <p:cNvPr id="3" name="PCC Forum   1 ตุลาคม 2569">
            <a:extLst xmlns:a="http://schemas.openxmlformats.org/drawingml/2006/main">
              <a:ext uri="{FF2B5EF4-FFF2-40B4-BE49-F238E27FC236}">
                <a16:creationId xmlns:a16="http://schemas.microsoft.com/office/drawing/2014/main" id="{CC82D563-ED09-4D24-A9BA-F7BBE20D0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7083"/>
                </a:solidFill>
                <a:latin typeface="Sarabun"/>
                <a:ea typeface="Sarabun"/>
                <a:cs typeface="Sarabun"/>
              </a:defRPr>
            </a:pPr>
            <a:r>
              <a:rPr sz="1275" b="0">
                <a:solidFill>
                  <a:srgbClr val="527083"/>
                </a:solidFill>
                <a:latin typeface="Sarabun"/>
                <a:ea typeface="Sarabun"/>
                <a:cs typeface="Sarabun"/>
              </a:rPr>
              <a:t>PCC Forum   1 ตุลาคม 2569</a:t>
            </a:r>
          </a:p>
        </p:txBody>
      </p:sp>
      <p:sp>
        <p:nvSpPr>
          <p:cNvPr id="4" name="03">
            <a:extLst xmlns:a="http://schemas.openxmlformats.org/drawingml/2006/main">
              <a:ext uri="{FF2B5EF4-FFF2-40B4-BE49-F238E27FC236}">
                <a16:creationId xmlns:a16="http://schemas.microsoft.com/office/drawing/2014/main" id="{DBF43F1C-45B2-4449-AA1B-4854BF179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527083"/>
                </a:solidFill>
                <a:latin typeface="Sarabun"/>
                <a:ea typeface="Sarabun"/>
                <a:cs typeface="Sarabun"/>
              </a:defRPr>
            </a:pPr>
            <a:r>
              <a:rPr sz="1500" b="1">
                <a:solidFill>
                  <a:srgbClr val="527083"/>
                </a:solidFill>
                <a:latin typeface="Sarabun"/>
                <a:ea typeface="Sarabun"/>
                <a:cs typeface="Sarabun"/>
              </a:rPr>
              <a:t>03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3581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143500"/>
                <a:gridCol w="5829300"/>
              </a:tblGrid>
              <a:tr h="609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Sarabun"/>
                          <a:ea typeface="Sarabun"/>
                          <a:cs typeface="Sarabun"/>
                        </a:rPr>
                        <a:t>คำถามของหน้างาน</a:t>
                      </a:r>
                    </a:p>
                  </a:txBody>
                  <a:tcPr marL="171450" marR="171450" marT="123825" marB="123825" anchor="ctr">
                    <a:solidFill>
                      <a:srgbClr val="102C4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Sarabun"/>
                          <a:ea typeface="Sarabun"/>
                          <a:cs typeface="Sarabun"/>
                        </a:rPr>
                        <a:t>ข้อมูลที่ต้องเชื่อม</a:t>
                      </a:r>
                    </a:p>
                  </a:txBody>
                  <a:tcPr marL="171450" marR="171450" marT="123825" marB="123825" anchor="ctr">
                    <a:solidFill>
                      <a:srgbClr val="102C40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153347"/>
                          </a:solidFill>
                          <a:latin typeface="Sarabun"/>
                          <a:ea typeface="Sarabun"/>
                          <a:cs typeface="Sarabun"/>
                        </a:rPr>
                        <a:t>ใช้ไฟเมื่อไร เท่าไร</a:t>
                      </a:r>
                    </a:p>
                  </a:txBody>
                  <a:tcPr marL="171450" marR="171450" marT="123825" marB="123825" anchor="ctr">
                    <a:solidFill>
                      <a:srgbClr val="EE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50">
                          <a:solidFill>
                            <a:srgbClr val="153347"/>
                          </a:solidFill>
                          <a:latin typeface="Sarabun"/>
                          <a:ea typeface="Sarabun"/>
                          <a:cs typeface="Sarabun"/>
                        </a:rPr>
                        <a:t>หน่วยไฟ และเวลาที่วัด</a:t>
                      </a:r>
                    </a:p>
                  </a:txBody>
                  <a:tcPr marL="171450" marR="171450" marT="123825" marB="123825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153347"/>
                          </a:solidFill>
                          <a:latin typeface="Sarabun"/>
                          <a:ea typeface="Sarabun"/>
                          <a:cs typeface="Sarabun"/>
                        </a:rPr>
                        <a:t>ตอนนั้นเครื่องทำอะไร</a:t>
                      </a:r>
                    </a:p>
                  </a:txBody>
                  <a:tcPr marL="171450" marR="171450" marT="123825" marB="123825" anchor="ctr">
                    <a:solidFill>
                      <a:srgbClr val="EE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50">
                          <a:solidFill>
                            <a:srgbClr val="153347"/>
                          </a:solidFill>
                          <a:latin typeface="Sarabun"/>
                          <a:ea typeface="Sarabun"/>
                          <a:cs typeface="Sarabun"/>
                        </a:rPr>
                        <a:t>ผลิต รอ อุ่นเครื่อง หรือหยุด</a:t>
                      </a:r>
                    </a:p>
                  </a:txBody>
                  <a:tcPr marL="171450" marR="171450" marT="123825" marB="123825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153347"/>
                          </a:solidFill>
                          <a:latin typeface="Sarabun"/>
                          <a:ea typeface="Sarabun"/>
                          <a:cs typeface="Sarabun"/>
                        </a:rPr>
                        <a:t>ได้ชิ้นงานดีเท่าไร</a:t>
                      </a:r>
                    </a:p>
                  </a:txBody>
                  <a:tcPr marL="171450" marR="171450" marT="123825" marB="123825" anchor="ctr">
                    <a:solidFill>
                      <a:srgbClr val="EE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50">
                          <a:solidFill>
                            <a:srgbClr val="153347"/>
                          </a:solidFill>
                          <a:latin typeface="Sarabun"/>
                          <a:ea typeface="Sarabun"/>
                          <a:cs typeface="Sarabun"/>
                        </a:rPr>
                        <a:t>รุ่นและขนาดสินค้า ผลผลิต และคุณภาพ</a:t>
                      </a:r>
                    </a:p>
                  </a:txBody>
                  <a:tcPr marL="171450" marR="171450" marT="123825" marB="1238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เริ่มสำรวจว่ามีอะไรแล้ว และเชื่อมเวลา เครื่องจักร ">
            <a:extLst xmlns:a="http://schemas.openxmlformats.org/drawingml/2006/main">
              <a:ext uri="{FF2B5EF4-FFF2-40B4-BE49-F238E27FC236}">
                <a16:creationId xmlns:a16="http://schemas.microsoft.com/office/drawing/2014/main" id="{A7EB6C3B-A5D9-4987-840C-91B788BA2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2927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27083"/>
                </a:solidFill>
                <a:latin typeface="Sarabun"/>
                <a:ea typeface="Sarabun"/>
                <a:cs typeface="Sarabun"/>
              </a:defRPr>
            </a:pPr>
            <a:r>
              <a:rPr sz="2025" b="0">
                <a:solidFill>
                  <a:srgbClr val="527083"/>
                </a:solidFill>
                <a:latin typeface="Sarabun"/>
                <a:ea typeface="Sarabun"/>
                <a:cs typeface="Sarabun"/>
              </a:rPr>
              <a:t>เริ่มสำรวจว่ามีอะไรแล้ว และเชื่อมเวลา เครื่องจักร และชิ้นงานให้ตรงกัน</a:t>
            </a:r>
          </a:p>
        </p:txBody>
      </p:sp>
    </p:spTree>
    <p:extLst>
      <p:ext uri="{BB962C8B-B14F-4D97-AF65-F5344CB8AC3E}">
        <p14:creationId xmlns:p14="http://schemas.microsoft.com/office/powerpoint/2010/main" val="137070797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b36c995c9d4c1b"/>
          <a:stretch xmlns:a="http://schemas.openxmlformats.org/drawingml/2006/main"/>
        </p:blipFill>
        <p:spPr>
          <a:xfrm xmlns:a="http://schemas.openxmlformats.org/drawingml/2006/main">
            <a:off x="9810750" y="419109"/>
            <a:ext cx="1714500" cy="269921"/>
          </a:xfrm>
          <a:prstGeom xmlns:a="http://schemas.openxmlformats.org/drawingml/2006/main" prst="rect">
            <a:avLst/>
          </a:prstGeom>
        </p:spPr>
      </p:pic>
      <p:sp>
        <p:nvSpPr>
          <p:cNvPr id="2" name="ตัวอย่างเริ่มต้นในธุรกิจหม้อแปลง">
            <a:extLst xmlns:a="http://schemas.openxmlformats.org/drawingml/2006/main">
              <a:ext uri="{FF2B5EF4-FFF2-40B4-BE49-F238E27FC236}">
                <a16:creationId xmlns:a16="http://schemas.microsoft.com/office/drawing/2014/main" id="{C877061F-4E42-4FED-B7F1-92E763B15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53347"/>
                </a:solidFill>
                <a:latin typeface="Sarabun"/>
                <a:ea typeface="Sarabun"/>
                <a:cs typeface="Sarabun"/>
              </a:defRPr>
            </a:pPr>
            <a:r>
              <a:rPr sz="3300" b="1">
                <a:solidFill>
                  <a:srgbClr val="153347"/>
                </a:solidFill>
                <a:latin typeface="Sarabun"/>
                <a:ea typeface="Sarabun"/>
                <a:cs typeface="Sarabun"/>
              </a:rPr>
              <a:t>ตัวอย่างเริ่มต้นในธุรกิจหม้อแปลง</a:t>
            </a:r>
          </a:p>
        </p:txBody>
      </p:sp>
      <p:sp>
        <p:nvSpPr>
          <p:cNvPr id="3" name="PCC Forum   1 ตุลาคม 2569">
            <a:extLst xmlns:a="http://schemas.openxmlformats.org/drawingml/2006/main">
              <a:ext uri="{FF2B5EF4-FFF2-40B4-BE49-F238E27FC236}">
                <a16:creationId xmlns:a16="http://schemas.microsoft.com/office/drawing/2014/main" id="{12F39BFE-6868-4E06-BA6B-EBCDA4D1D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7083"/>
                </a:solidFill>
                <a:latin typeface="Sarabun"/>
                <a:ea typeface="Sarabun"/>
                <a:cs typeface="Sarabun"/>
              </a:defRPr>
            </a:pPr>
            <a:r>
              <a:rPr sz="1275" b="0">
                <a:solidFill>
                  <a:srgbClr val="527083"/>
                </a:solidFill>
                <a:latin typeface="Sarabun"/>
                <a:ea typeface="Sarabun"/>
                <a:cs typeface="Sarabun"/>
              </a:rPr>
              <a:t>PCC Forum   1 ตุลาคม 2569</a:t>
            </a:r>
          </a:p>
        </p:txBody>
      </p:sp>
      <p:sp>
        <p:nvSpPr>
          <p:cNvPr id="4" name="04">
            <a:extLst xmlns:a="http://schemas.openxmlformats.org/drawingml/2006/main">
              <a:ext uri="{FF2B5EF4-FFF2-40B4-BE49-F238E27FC236}">
                <a16:creationId xmlns:a16="http://schemas.microsoft.com/office/drawing/2014/main" id="{C6412230-8222-4821-B139-8E3C5DE4A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527083"/>
                </a:solidFill>
                <a:latin typeface="Sarabun"/>
                <a:ea typeface="Sarabun"/>
                <a:cs typeface="Sarabun"/>
              </a:defRPr>
            </a:pPr>
            <a:r>
              <a:rPr sz="1500" b="1">
                <a:solidFill>
                  <a:srgbClr val="527083"/>
                </a:solidFill>
                <a:latin typeface="Sarabun"/>
                <a:ea typeface="Sarabun"/>
                <a:cs typeface="Sarabun"/>
              </a:rPr>
              <a:t>04</a:t>
            </a:r>
          </a:p>
        </p:txBody>
      </p:sp>
      <p:sp>
        <p:nvSpPr>
          <p:cNvPr id="5" name="1">
            <a:extLst xmlns:a="http://schemas.openxmlformats.org/drawingml/2006/main">
              <a:ext uri="{FF2B5EF4-FFF2-40B4-BE49-F238E27FC236}">
                <a16:creationId xmlns:a16="http://schemas.microsoft.com/office/drawing/2014/main" id="{C3390001-E877-4B29-9253-7DE32E341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57375"/>
            <a:ext cx="266700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700" b="1">
                <a:solidFill>
                  <a:srgbClr val="009DDC"/>
                </a:solidFill>
                <a:latin typeface="Sarabun"/>
                <a:ea typeface="Sarabun"/>
                <a:cs typeface="Sarabun"/>
              </a:defRPr>
            </a:pPr>
            <a:r>
              <a:rPr sz="11700" b="1">
                <a:solidFill>
                  <a:srgbClr val="009DDC"/>
                </a:solidFill>
                <a:latin typeface="Sarabun"/>
                <a:ea typeface="Sarabun"/>
                <a:cs typeface="Sarabun"/>
              </a:rPr>
              <a:t>1</a:t>
            </a:r>
          </a:p>
        </p:txBody>
      </p:sp>
      <p:sp>
        <p:nvSpPr>
          <p:cNvPr id="6" name="ไลน์ผลิต">
            <a:extLst xmlns:a="http://schemas.openxmlformats.org/drawingml/2006/main">
              <a:ext uri="{FF2B5EF4-FFF2-40B4-BE49-F238E27FC236}">
                <a16:creationId xmlns:a16="http://schemas.microsoft.com/office/drawing/2014/main" id="{E9F5C96B-9469-4735-A6FB-26BEDFDE4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48075"/>
            <a:ext cx="285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53347"/>
                </a:solidFill>
                <a:latin typeface="Sarabun"/>
                <a:ea typeface="Sarabun"/>
                <a:cs typeface="Sarabun"/>
              </a:defRPr>
            </a:pPr>
            <a:r>
              <a:rPr sz="3300" b="1">
                <a:solidFill>
                  <a:srgbClr val="153347"/>
                </a:solidFill>
                <a:latin typeface="Sarabun"/>
                <a:ea typeface="Sarabun"/>
                <a:cs typeface="Sarabun"/>
              </a:rPr>
              <a:t>ไลน์ผลิต</a:t>
            </a:r>
          </a:p>
        </p:txBody>
      </p:sp>
      <p:sp>
        <p:nvSpPr>
          <p:cNvPr id="7" name="ลดไฟฟ้าที่ไม่จำเป็น&#10;ต่อการสร้างผลผลิต">
            <a:extLst xmlns:a="http://schemas.openxmlformats.org/drawingml/2006/main">
              <a:ext uri="{FF2B5EF4-FFF2-40B4-BE49-F238E27FC236}">
                <a16:creationId xmlns:a16="http://schemas.microsoft.com/office/drawing/2014/main" id="{51827324-44DE-48E5-8DE7-C8EC1B3DE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1952625"/>
            <a:ext cx="76581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53347"/>
                </a:solidFill>
                <a:latin typeface="Sarabun"/>
                <a:ea typeface="Sarabun"/>
                <a:cs typeface="Sarabun"/>
              </a:defRPr>
            </a:pPr>
            <a:r>
              <a:rPr sz="3450" b="1">
                <a:solidFill>
                  <a:srgbClr val="153347"/>
                </a:solidFill>
                <a:latin typeface="Sarabun"/>
                <a:ea typeface="Sarabun"/>
                <a:cs typeface="Sarabun"/>
              </a:rPr>
              <a:t>ลดไฟฟ้าที่ไม่จำเป็น</a:t>
            </a:r>
          </a:p>
          <a:p xmlns:a="http://schemas.openxmlformats.org/drawingml/2006/main">
            <a:pPr algn="l">
              <a:defRPr sz="3450" b="1">
                <a:solidFill>
                  <a:srgbClr val="153347"/>
                </a:solidFill>
                <a:latin typeface="Sarabun"/>
                <a:ea typeface="Sarabun"/>
                <a:cs typeface="Sarabun"/>
              </a:defRPr>
            </a:pPr>
            <a:r>
              <a:rPr sz="3450" b="1">
                <a:solidFill>
                  <a:srgbClr val="153347"/>
                </a:solidFill>
                <a:latin typeface="Sarabun"/>
                <a:ea typeface="Sarabun"/>
                <a:cs typeface="Sarabun"/>
              </a:rPr>
              <a:t>ต่อการสร้างผลผลิต</a:t>
            </a:r>
          </a:p>
        </p:txBody>
      </p:sp>
      <p:sp>
        <p:nvSpPr>
          <p:cNvPr id="8" name="ประเมินค่าไฟและก๊าซเรือนกระจก&#10;จากไฟฟ้าที่ซื้อมาใช้">
            <a:extLst xmlns:a="http://schemas.openxmlformats.org/drawingml/2006/main">
              <a:ext uri="{FF2B5EF4-FFF2-40B4-BE49-F238E27FC236}">
                <a16:creationId xmlns:a16="http://schemas.microsoft.com/office/drawing/2014/main" id="{87AB1A0E-BB3D-4B95-9037-BA6970721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429000"/>
            <a:ext cx="7581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527083"/>
                </a:solidFill>
                <a:latin typeface="Sarabun"/>
                <a:ea typeface="Sarabun"/>
                <a:cs typeface="Sarabun"/>
              </a:defRPr>
            </a:pPr>
            <a:r>
              <a:rPr sz="2400" b="0">
                <a:solidFill>
                  <a:srgbClr val="527083"/>
                </a:solidFill>
                <a:latin typeface="Sarabun"/>
                <a:ea typeface="Sarabun"/>
                <a:cs typeface="Sarabun"/>
              </a:rPr>
              <a:t>ประเมินค่าไฟและก๊าซเรือนกระจก</a:t>
            </a:r>
          </a:p>
          <a:p xmlns:a="http://schemas.openxmlformats.org/drawingml/2006/main">
            <a:pPr algn="l">
              <a:defRPr sz="2400" b="0">
                <a:solidFill>
                  <a:srgbClr val="527083"/>
                </a:solidFill>
                <a:latin typeface="Sarabun"/>
                <a:ea typeface="Sarabun"/>
                <a:cs typeface="Sarabun"/>
              </a:defRPr>
            </a:pPr>
            <a:r>
              <a:rPr sz="2400" b="0">
                <a:solidFill>
                  <a:srgbClr val="527083"/>
                </a:solidFill>
                <a:latin typeface="Sarabun"/>
                <a:ea typeface="Sarabun"/>
                <a:cs typeface="Sarabun"/>
              </a:rPr>
              <a:t>จากไฟฟ้าที่ซื้อมาใช้ (Scope 2)</a:t>
            </a:r>
          </a:p>
        </p:txBody>
      </p:sp>
      <p:sp>
        <p:nvSpPr>
          <p:cNvPr id="9" name="รักษาปริมาณผลิต   คุณภาพ   ความปลอดภัย">
            <a:extLst xmlns:a="http://schemas.openxmlformats.org/drawingml/2006/main">
              <a:ext uri="{FF2B5EF4-FFF2-40B4-BE49-F238E27FC236}">
                <a16:creationId xmlns:a16="http://schemas.microsoft.com/office/drawing/2014/main" id="{08CD5DEA-ACC5-4B01-95E3-152CBC1B9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91100"/>
            <a:ext cx="1097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50B948"/>
                </a:solidFill>
                <a:latin typeface="Sarabun"/>
                <a:ea typeface="Sarabun"/>
                <a:cs typeface="Sarabun"/>
              </a:defRPr>
            </a:pPr>
            <a:r>
              <a:rPr sz="2700" b="1">
                <a:solidFill>
                  <a:srgbClr val="50B948"/>
                </a:solidFill>
                <a:latin typeface="Sarabun"/>
                <a:ea typeface="Sarabun"/>
                <a:cs typeface="Sarabun"/>
              </a:rPr>
              <a:t>รักษาปริมาณผลิต   คุณภาพ   ความปลอดภัย</a:t>
            </a:r>
          </a:p>
        </p:txBody>
      </p:sp>
      <p:sp>
        <p:nvSpPr>
          <p:cNvPr id="10" name="ข้อเสนอเพื่อหารือ  เลือกไลน์และค่าตั้งต้นร่วมกับ B">
            <a:extLst xmlns:a="http://schemas.openxmlformats.org/drawingml/2006/main">
              <a:ext uri="{FF2B5EF4-FFF2-40B4-BE49-F238E27FC236}">
                <a16:creationId xmlns:a16="http://schemas.microsoft.com/office/drawing/2014/main" id="{052C9F23-9ADC-4AF5-88E3-9D9B9C506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7215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27083"/>
                </a:solidFill>
                <a:latin typeface="Sarabun"/>
                <a:ea typeface="Sarabun"/>
                <a:cs typeface="Sarabun"/>
              </a:defRPr>
            </a:pPr>
            <a:r>
              <a:rPr sz="1875" b="0">
                <a:solidFill>
                  <a:srgbClr val="527083"/>
                </a:solidFill>
                <a:latin typeface="Sarabun"/>
                <a:ea typeface="Sarabun"/>
                <a:cs typeface="Sarabun"/>
              </a:rPr>
              <a:t>ข้อเสนอเพื่อหารือ  เลือกไลน์และค่าตั้งต้นร่วมกับ Business ก่อนตั้งเป้า</a:t>
            </a:r>
          </a:p>
        </p:txBody>
      </p:sp>
    </p:spTree>
    <p:extLst>
      <p:ext uri="{BB962C8B-B14F-4D97-AF65-F5344CB8AC3E}">
        <p14:creationId xmlns:p14="http://schemas.microsoft.com/office/powerpoint/2010/main" val="160825637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8c26bf9e1449d6"/>
          <a:stretch xmlns:a="http://schemas.openxmlformats.org/drawingml/2006/main"/>
        </p:blipFill>
        <p:spPr>
          <a:xfrm xmlns:a="http://schemas.openxmlformats.org/drawingml/2006/main">
            <a:off x="9810750" y="419109"/>
            <a:ext cx="1714500" cy="269921"/>
          </a:xfrm>
          <a:prstGeom xmlns:a="http://schemas.openxmlformats.org/drawingml/2006/main" prst="rect">
            <a:avLst/>
          </a:prstGeom>
        </p:spPr>
      </p:pic>
      <p:sp>
        <p:nvSpPr>
          <p:cNvPr id="2" name="เครื่องรออยู่ ควรปิดหรือเดินต่อ">
            <a:extLst xmlns:a="http://schemas.openxmlformats.org/drawingml/2006/main">
              <a:ext uri="{FF2B5EF4-FFF2-40B4-BE49-F238E27FC236}">
                <a16:creationId xmlns:a16="http://schemas.microsoft.com/office/drawing/2014/main" id="{06C8C9AB-A779-417D-BE29-979FC2069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53347"/>
                </a:solidFill>
                <a:latin typeface="Sarabun"/>
                <a:ea typeface="Sarabun"/>
                <a:cs typeface="Sarabun"/>
              </a:defRPr>
            </a:pPr>
            <a:r>
              <a:rPr sz="3300" b="1">
                <a:solidFill>
                  <a:srgbClr val="153347"/>
                </a:solidFill>
                <a:latin typeface="Sarabun"/>
                <a:ea typeface="Sarabun"/>
                <a:cs typeface="Sarabun"/>
              </a:rPr>
              <a:t>เครื่องรออยู่ ควรปิดหรือเดินต่อ</a:t>
            </a:r>
          </a:p>
        </p:txBody>
      </p:sp>
      <p:sp>
        <p:nvSpPr>
          <p:cNvPr id="3" name="PCC Forum   1 ตุลาคม 2569">
            <a:extLst xmlns:a="http://schemas.openxmlformats.org/drawingml/2006/main">
              <a:ext uri="{FF2B5EF4-FFF2-40B4-BE49-F238E27FC236}">
                <a16:creationId xmlns:a16="http://schemas.microsoft.com/office/drawing/2014/main" id="{F708AD58-C892-4045-B9C0-557FA920E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7083"/>
                </a:solidFill>
                <a:latin typeface="Sarabun"/>
                <a:ea typeface="Sarabun"/>
                <a:cs typeface="Sarabun"/>
              </a:defRPr>
            </a:pPr>
            <a:r>
              <a:rPr sz="1275" b="0">
                <a:solidFill>
                  <a:srgbClr val="527083"/>
                </a:solidFill>
                <a:latin typeface="Sarabun"/>
                <a:ea typeface="Sarabun"/>
                <a:cs typeface="Sarabun"/>
              </a:rPr>
              <a:t>PCC Forum   1 ตุลาคม 2569</a:t>
            </a:r>
          </a:p>
        </p:txBody>
      </p:sp>
      <p:sp>
        <p:nvSpPr>
          <p:cNvPr id="4" name="05">
            <a:extLst xmlns:a="http://schemas.openxmlformats.org/drawingml/2006/main">
              <a:ext uri="{FF2B5EF4-FFF2-40B4-BE49-F238E27FC236}">
                <a16:creationId xmlns:a16="http://schemas.microsoft.com/office/drawing/2014/main" id="{3E808864-4AA3-456C-915E-443BDBDA3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527083"/>
                </a:solidFill>
                <a:latin typeface="Sarabun"/>
                <a:ea typeface="Sarabun"/>
                <a:cs typeface="Sarabun"/>
              </a:defRPr>
            </a:pPr>
            <a:r>
              <a:rPr sz="1500" b="1">
                <a:solidFill>
                  <a:srgbClr val="527083"/>
                </a:solidFill>
                <a:latin typeface="Sarabun"/>
                <a:ea typeface="Sarabun"/>
                <a:cs typeface="Sarabun"/>
              </a:rPr>
              <a:t>05</a:t>
            </a:r>
          </a:p>
        </p:txBody>
      </p:sp>
      <p:sp>
        <p:nvSpPr>
          <p:cNvPr id="5" name="ชวนคิดจากสถานการณ์สมมติ">
            <a:extLst xmlns:a="http://schemas.openxmlformats.org/drawingml/2006/main">
              <a:ext uri="{FF2B5EF4-FFF2-40B4-BE49-F238E27FC236}">
                <a16:creationId xmlns:a16="http://schemas.microsoft.com/office/drawing/2014/main" id="{1F86E403-ABE8-4951-814C-ED7301ED9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27083"/>
                </a:solidFill>
                <a:latin typeface="Sarabun"/>
                <a:ea typeface="Sarabun"/>
                <a:cs typeface="Sarabun"/>
              </a:defRPr>
            </a:pPr>
            <a:r>
              <a:rPr sz="1950" b="0">
                <a:solidFill>
                  <a:srgbClr val="527083"/>
                </a:solidFill>
                <a:latin typeface="Sarabun"/>
                <a:ea typeface="Sarabun"/>
                <a:cs typeface="Sarabun"/>
              </a:rPr>
              <a:t>ชวนคิดจากสถานการณ์สมมติ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609600" y="2114550"/>
          <a:ext xmlns:a="http://schemas.openxmlformats.org/drawingml/2006/main" cx="10972800" cy="34385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286250"/>
                <a:gridCol w="6686550"/>
              </a:tblGrid>
              <a:tr h="609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Sarabun"/>
                          <a:ea typeface="Sarabun"/>
                          <a:cs typeface="Sarabun"/>
                        </a:rPr>
                        <a:t>สิ่งที่พบ</a:t>
                      </a:r>
                    </a:p>
                  </a:txBody>
                  <a:tcPr marL="171450" marR="171450" marT="123825" marB="123825" anchor="ctr">
                    <a:solidFill>
                      <a:srgbClr val="102C4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Sarabun"/>
                          <a:ea typeface="Sarabun"/>
                          <a:cs typeface="Sarabun"/>
                        </a:rPr>
                        <a:t>สิ่งที่ Business ต้องช่วยยืนยัน</a:t>
                      </a:r>
                    </a:p>
                  </a:txBody>
                  <a:tcPr marL="171450" marR="171450" marT="123825" marB="123825" anchor="ctr">
                    <a:solidFill>
                      <a:srgbClr val="102C40"/>
                    </a:solidFill>
                  </a:tcPr>
                </a:tc>
              </a:tr>
              <a:tr h="9429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153347"/>
                          </a:solidFill>
                          <a:latin typeface="Sarabun"/>
                          <a:ea typeface="Sarabun"/>
                          <a:cs typeface="Sarabun"/>
                        </a:rPr>
                        <a:t>รอเพื่อรักษาสภาวะกระบวนการ</a:t>
                      </a:r>
                    </a:p>
                  </a:txBody>
                  <a:tcPr marL="171450" marR="171450" marT="123825" marB="123825" anchor="ctr">
                    <a:solidFill>
                      <a:srgbClr val="EE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>
                          <a:solidFill>
                            <a:srgbClr val="153347"/>
                          </a:solidFill>
                          <a:latin typeface="Sarabun"/>
                          <a:ea typeface="Sarabun"/>
                          <a:cs typeface="Sarabun"/>
                        </a:rPr>
                        <a:t>จำเป็นต่อคุณภาพหรือความปลอดภัยหรือไม่</a:t>
                      </a:r>
                    </a:p>
                  </a:txBody>
                  <a:tcPr marL="171450" marR="171450" marT="123825" marB="123825" anchor="ctr">
                    <a:solidFill>
                      <a:srgbClr val="FFFFFF"/>
                    </a:solidFill>
                  </a:tcPr>
                </a:tc>
              </a:tr>
              <a:tr h="9429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153347"/>
                          </a:solidFill>
                          <a:latin typeface="Sarabun"/>
                          <a:ea typeface="Sarabun"/>
                          <a:cs typeface="Sarabun"/>
                        </a:rPr>
                        <a:t>รอวัตถุดิบหรือตารางงาน</a:t>
                      </a:r>
                    </a:p>
                  </a:txBody>
                  <a:tcPr marL="171450" marR="171450" marT="123825" marB="123825" anchor="ctr">
                    <a:solidFill>
                      <a:srgbClr val="EE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>
                          <a:solidFill>
                            <a:srgbClr val="153347"/>
                          </a:solidFill>
                          <a:latin typeface="Sarabun"/>
                          <a:ea typeface="Sarabun"/>
                          <a:cs typeface="Sarabun"/>
                        </a:rPr>
                        <a:t>ปรับการจัดงานแล้วลดช่วงรอได้หรือไม่</a:t>
                      </a:r>
                    </a:p>
                  </a:txBody>
                  <a:tcPr marL="171450" marR="171450" marT="123825" marB="123825" anchor="ctr">
                    <a:solidFill>
                      <a:srgbClr val="FFFFFF"/>
                    </a:solidFill>
                  </a:tcPr>
                </a:tc>
              </a:tr>
              <a:tr h="9429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153347"/>
                          </a:solidFill>
                          <a:latin typeface="Sarabun"/>
                          <a:ea typeface="Sarabun"/>
                          <a:cs typeface="Sarabun"/>
                        </a:rPr>
                        <a:t>ยังอธิบายสาเหตุไม่ได้</a:t>
                      </a:r>
                    </a:p>
                  </a:txBody>
                  <a:tcPr marL="171450" marR="171450" marT="123825" marB="123825" anchor="ctr">
                    <a:solidFill>
                      <a:srgbClr val="EE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>
                          <a:solidFill>
                            <a:srgbClr val="153347"/>
                          </a:solidFill>
                          <a:latin typeface="Sarabun"/>
                          <a:ea typeface="Sarabun"/>
                          <a:cs typeface="Sarabun"/>
                        </a:rPr>
                        <a:t>ต้องเก็บข้อมูลหรือสังเกตเพิ่มตรงไหน</a:t>
                      </a:r>
                    </a:p>
                  </a:txBody>
                  <a:tcPr marL="171450" marR="171450" marT="123825" marB="1238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ช่วงไม่ผลิตอาจยังจำเป็น ต้องพิสูจน์ก่อนนับว่าเป็นไ">
            <a:extLst xmlns:a="http://schemas.openxmlformats.org/drawingml/2006/main">
              <a:ext uri="{FF2B5EF4-FFF2-40B4-BE49-F238E27FC236}">
                <a16:creationId xmlns:a16="http://schemas.microsoft.com/office/drawing/2014/main" id="{ECE1D6B9-0AA3-43A9-A1C6-61964E452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3882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EA7F1E"/>
                </a:solidFill>
                <a:latin typeface="Sarabun"/>
                <a:ea typeface="Sarabun"/>
                <a:cs typeface="Sarabun"/>
              </a:defRPr>
            </a:pPr>
            <a:r>
              <a:rPr sz="2025" b="1">
                <a:solidFill>
                  <a:srgbClr val="EA7F1E"/>
                </a:solidFill>
                <a:latin typeface="Sarabun"/>
                <a:ea typeface="Sarabun"/>
                <a:cs typeface="Sarabun"/>
              </a:rPr>
              <a:t>ช่วงไม่ผลิตอาจยังจำเป็น ต้องพิสูจน์ก่อนนับว่าเป็นไฟที่ลดได้</a:t>
            </a:r>
          </a:p>
        </p:txBody>
      </p:sp>
    </p:spTree>
    <p:extLst>
      <p:ext uri="{BB962C8B-B14F-4D97-AF65-F5344CB8AC3E}">
        <p14:creationId xmlns:p14="http://schemas.microsoft.com/office/powerpoint/2010/main" val="45926250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3c7b45875f4f5f"/>
          <a:stretch xmlns:a="http://schemas.openxmlformats.org/drawingml/2006/main"/>
        </p:blipFill>
        <p:spPr>
          <a:xfrm xmlns:a="http://schemas.openxmlformats.org/drawingml/2006/main">
            <a:off x="9810750" y="419109"/>
            <a:ext cx="1714500" cy="269921"/>
          </a:xfrm>
          <a:prstGeom xmlns:a="http://schemas.openxmlformats.org/drawingml/2006/main" prst="rect">
            <a:avLst/>
          </a:prstGeom>
        </p:spPr>
      </p:pic>
      <p:sp>
        <p:nvSpPr>
          <p:cNvPr id="2" name="วงจรการปรับปรุงหน้างาน">
            <a:extLst xmlns:a="http://schemas.openxmlformats.org/drawingml/2006/main">
              <a:ext uri="{FF2B5EF4-FFF2-40B4-BE49-F238E27FC236}">
                <a16:creationId xmlns:a16="http://schemas.microsoft.com/office/drawing/2014/main" id="{E50B0E8D-0B24-4B21-9438-FFE069DBB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53347"/>
                </a:solidFill>
                <a:latin typeface="Sarabun"/>
                <a:ea typeface="Sarabun"/>
                <a:cs typeface="Sarabun"/>
              </a:defRPr>
            </a:pPr>
            <a:r>
              <a:rPr sz="3300" b="1">
                <a:solidFill>
                  <a:srgbClr val="153347"/>
                </a:solidFill>
                <a:latin typeface="Sarabun"/>
                <a:ea typeface="Sarabun"/>
                <a:cs typeface="Sarabun"/>
              </a:rPr>
              <a:t>วงจรการปรับปรุงหน้างาน</a:t>
            </a:r>
          </a:p>
        </p:txBody>
      </p:sp>
      <p:sp>
        <p:nvSpPr>
          <p:cNvPr id="3" name="PCC Forum   1 ตุลาคม 2569">
            <a:extLst xmlns:a="http://schemas.openxmlformats.org/drawingml/2006/main">
              <a:ext uri="{FF2B5EF4-FFF2-40B4-BE49-F238E27FC236}">
                <a16:creationId xmlns:a16="http://schemas.microsoft.com/office/drawing/2014/main" id="{5D97955A-59F1-431A-BBE0-4A097203D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7083"/>
                </a:solidFill>
                <a:latin typeface="Sarabun"/>
                <a:ea typeface="Sarabun"/>
                <a:cs typeface="Sarabun"/>
              </a:defRPr>
            </a:pPr>
            <a:r>
              <a:rPr sz="1275" b="0">
                <a:solidFill>
                  <a:srgbClr val="527083"/>
                </a:solidFill>
                <a:latin typeface="Sarabun"/>
                <a:ea typeface="Sarabun"/>
                <a:cs typeface="Sarabun"/>
              </a:rPr>
              <a:t>PCC Forum   1 ตุลาคม 2569</a:t>
            </a:r>
          </a:p>
        </p:txBody>
      </p:sp>
      <p:sp>
        <p:nvSpPr>
          <p:cNvPr id="4" name="06">
            <a:extLst xmlns:a="http://schemas.openxmlformats.org/drawingml/2006/main">
              <a:ext uri="{FF2B5EF4-FFF2-40B4-BE49-F238E27FC236}">
                <a16:creationId xmlns:a16="http://schemas.microsoft.com/office/drawing/2014/main" id="{CE409578-3B4E-4579-8599-E4A57598B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527083"/>
                </a:solidFill>
                <a:latin typeface="Sarabun"/>
                <a:ea typeface="Sarabun"/>
                <a:cs typeface="Sarabun"/>
              </a:defRPr>
            </a:pPr>
            <a:r>
              <a:rPr sz="1500" b="1">
                <a:solidFill>
                  <a:srgbClr val="527083"/>
                </a:solidFill>
                <a:latin typeface="Sarabun"/>
                <a:ea typeface="Sarabun"/>
                <a:cs typeface="Sarabun"/>
              </a:rPr>
              <a:t>06</a:t>
            </a:r>
          </a:p>
        </p:txBody>
      </p:sp>
      <p:sp>
        <p:nvSpPr>
          <p:cNvPr id="5" name="01">
            <a:extLst xmlns:a="http://schemas.openxmlformats.org/drawingml/2006/main">
              <a:ext uri="{FF2B5EF4-FFF2-40B4-BE49-F238E27FC236}">
                <a16:creationId xmlns:a16="http://schemas.microsoft.com/office/drawing/2014/main" id="{20DDF38F-BBF0-487A-BD05-923915213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2019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425" b="1">
                <a:solidFill>
                  <a:srgbClr val="009DDC"/>
                </a:solidFill>
                <a:latin typeface="Sarabun"/>
                <a:ea typeface="Sarabun"/>
                <a:cs typeface="Sarabun"/>
              </a:defRPr>
            </a:pPr>
            <a:r>
              <a:rPr sz="4425" b="1">
                <a:solidFill>
                  <a:srgbClr val="009DDC"/>
                </a:solidFill>
                <a:latin typeface="Sarabun"/>
                <a:ea typeface="Sarabun"/>
                <a:cs typeface="Sarabun"/>
              </a:rPr>
              <a:t>01</a:t>
            </a:r>
          </a:p>
        </p:txBody>
      </p:sp>
      <p:sp>
        <p:nvSpPr>
          <p:cNvPr id="6" name="วัด">
            <a:extLst xmlns:a="http://schemas.openxmlformats.org/drawingml/2006/main">
              <a:ext uri="{FF2B5EF4-FFF2-40B4-BE49-F238E27FC236}">
                <a16:creationId xmlns:a16="http://schemas.microsoft.com/office/drawing/2014/main" id="{A1E3DFF7-3332-4CEC-AED8-80CCAF8E0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5150"/>
            <a:ext cx="2019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3347"/>
                </a:solidFill>
                <a:latin typeface="Sarabun"/>
                <a:ea typeface="Sarabun"/>
                <a:cs typeface="Sarabun"/>
              </a:defRPr>
            </a:pPr>
            <a:r>
              <a:rPr sz="2550" b="1">
                <a:solidFill>
                  <a:srgbClr val="153347"/>
                </a:solidFill>
                <a:latin typeface="Sarabun"/>
                <a:ea typeface="Sarabun"/>
                <a:cs typeface="Sarabun"/>
              </a:rPr>
              <a:t>วัด</a:t>
            </a:r>
          </a:p>
        </p:txBody>
      </p:sp>
      <p:sp>
        <p:nvSpPr>
          <p:cNvPr id="7" name="ไฟ ผลผลิต&#10;สถานะ คุณภาพ">
            <a:extLst xmlns:a="http://schemas.openxmlformats.org/drawingml/2006/main">
              <a:ext uri="{FF2B5EF4-FFF2-40B4-BE49-F238E27FC236}">
                <a16:creationId xmlns:a16="http://schemas.microsoft.com/office/drawing/2014/main" id="{7DFF62D6-7E82-46BF-8B0A-41705FDEC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95725"/>
            <a:ext cx="20193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27083"/>
                </a:solidFill>
                <a:latin typeface="Sarabun"/>
                <a:ea typeface="Sarabun"/>
                <a:cs typeface="Sarabun"/>
              </a:defRPr>
            </a:pPr>
            <a:r>
              <a:rPr sz="2025" b="0">
                <a:solidFill>
                  <a:srgbClr val="527083"/>
                </a:solidFill>
                <a:latin typeface="Sarabun"/>
                <a:ea typeface="Sarabun"/>
                <a:cs typeface="Sarabun"/>
              </a:rPr>
              <a:t>ไฟ ผลผลิต</a:t>
            </a:r>
          </a:p>
          <a:p xmlns:a="http://schemas.openxmlformats.org/drawingml/2006/main">
            <a:pPr algn="l">
              <a:defRPr sz="2025" b="0">
                <a:solidFill>
                  <a:srgbClr val="527083"/>
                </a:solidFill>
                <a:latin typeface="Sarabun"/>
                <a:ea typeface="Sarabun"/>
                <a:cs typeface="Sarabun"/>
              </a:defRPr>
            </a:pPr>
            <a:r>
              <a:rPr sz="2025" b="0">
                <a:solidFill>
                  <a:srgbClr val="527083"/>
                </a:solidFill>
                <a:latin typeface="Sarabun"/>
                <a:ea typeface="Sarabun"/>
                <a:cs typeface="Sarabun"/>
              </a:rPr>
              <a:t>สถานะ คุณภาพ</a:t>
            </a:r>
          </a:p>
        </p:txBody>
      </p:sp>
      <p:sp>
        <p:nvSpPr>
          <p:cNvPr id="8" name="02">
            <a:extLst xmlns:a="http://schemas.openxmlformats.org/drawingml/2006/main">
              <a:ext uri="{FF2B5EF4-FFF2-40B4-BE49-F238E27FC236}">
                <a16:creationId xmlns:a16="http://schemas.microsoft.com/office/drawing/2014/main" id="{67029882-73B0-45B2-BCF6-C83EBD981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190750"/>
            <a:ext cx="2019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425" b="1">
                <a:solidFill>
                  <a:srgbClr val="50B948"/>
                </a:solidFill>
                <a:latin typeface="Sarabun"/>
                <a:ea typeface="Sarabun"/>
                <a:cs typeface="Sarabun"/>
              </a:defRPr>
            </a:pPr>
            <a:r>
              <a:rPr sz="4425" b="1">
                <a:solidFill>
                  <a:srgbClr val="50B948"/>
                </a:solidFill>
                <a:latin typeface="Sarabun"/>
                <a:ea typeface="Sarabun"/>
                <a:cs typeface="Sarabun"/>
              </a:rPr>
              <a:t>02</a:t>
            </a:r>
          </a:p>
        </p:txBody>
      </p:sp>
      <p:sp>
        <p:nvSpPr>
          <p:cNvPr id="9" name="เข้าใจ">
            <a:extLst xmlns:a="http://schemas.openxmlformats.org/drawingml/2006/main">
              <a:ext uri="{FF2B5EF4-FFF2-40B4-BE49-F238E27FC236}">
                <a16:creationId xmlns:a16="http://schemas.microsoft.com/office/drawing/2014/main" id="{EFBFC4FB-0175-4578-A613-ED5208091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3105150"/>
            <a:ext cx="2019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3347"/>
                </a:solidFill>
                <a:latin typeface="Sarabun"/>
                <a:ea typeface="Sarabun"/>
                <a:cs typeface="Sarabun"/>
              </a:defRPr>
            </a:pPr>
            <a:r>
              <a:rPr sz="2550" b="1">
                <a:solidFill>
                  <a:srgbClr val="153347"/>
                </a:solidFill>
                <a:latin typeface="Sarabun"/>
                <a:ea typeface="Sarabun"/>
                <a:cs typeface="Sarabun"/>
              </a:rPr>
              <a:t>เข้าใจ</a:t>
            </a:r>
          </a:p>
        </p:txBody>
      </p:sp>
      <p:sp>
        <p:nvSpPr>
          <p:cNvPr id="10" name="Business ช่วย&#10;อธิบายสาเหตุ">
            <a:extLst xmlns:a="http://schemas.openxmlformats.org/drawingml/2006/main">
              <a:ext uri="{FF2B5EF4-FFF2-40B4-BE49-F238E27FC236}">
                <a16:creationId xmlns:a16="http://schemas.microsoft.com/office/drawing/2014/main" id="{073473DD-989F-4F28-8DC3-C96A35973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3895725"/>
            <a:ext cx="20193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27083"/>
                </a:solidFill>
                <a:latin typeface="Sarabun"/>
                <a:ea typeface="Sarabun"/>
                <a:cs typeface="Sarabun"/>
              </a:defRPr>
            </a:pPr>
            <a:r>
              <a:rPr sz="2025" b="0">
                <a:solidFill>
                  <a:srgbClr val="527083"/>
                </a:solidFill>
                <a:latin typeface="Sarabun"/>
                <a:ea typeface="Sarabun"/>
                <a:cs typeface="Sarabun"/>
              </a:rPr>
              <a:t>Business ช่วย</a:t>
            </a:r>
          </a:p>
          <a:p xmlns:a="http://schemas.openxmlformats.org/drawingml/2006/main">
            <a:pPr algn="l">
              <a:defRPr sz="2025" b="0">
                <a:solidFill>
                  <a:srgbClr val="527083"/>
                </a:solidFill>
                <a:latin typeface="Sarabun"/>
                <a:ea typeface="Sarabun"/>
                <a:cs typeface="Sarabun"/>
              </a:defRPr>
            </a:pPr>
            <a:r>
              <a:rPr sz="2025" b="0">
                <a:solidFill>
                  <a:srgbClr val="527083"/>
                </a:solidFill>
                <a:latin typeface="Sarabun"/>
                <a:ea typeface="Sarabun"/>
                <a:cs typeface="Sarabun"/>
              </a:rPr>
              <a:t>อธิบายสาเหตุ</a:t>
            </a:r>
          </a:p>
        </p:txBody>
      </p:sp>
      <p:sp>
        <p:nvSpPr>
          <p:cNvPr id="11" name="03">
            <a:extLst xmlns:a="http://schemas.openxmlformats.org/drawingml/2006/main">
              <a:ext uri="{FF2B5EF4-FFF2-40B4-BE49-F238E27FC236}">
                <a16:creationId xmlns:a16="http://schemas.microsoft.com/office/drawing/2014/main" id="{E8ED5E4C-532B-492C-A202-53DF5F57F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190750"/>
            <a:ext cx="2019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425" b="1">
                <a:solidFill>
                  <a:srgbClr val="EA7F1E"/>
                </a:solidFill>
                <a:latin typeface="Sarabun"/>
                <a:ea typeface="Sarabun"/>
                <a:cs typeface="Sarabun"/>
              </a:defRPr>
            </a:pPr>
            <a:r>
              <a:rPr sz="4425" b="1">
                <a:solidFill>
                  <a:srgbClr val="EA7F1E"/>
                </a:solidFill>
                <a:latin typeface="Sarabun"/>
                <a:ea typeface="Sarabun"/>
                <a:cs typeface="Sarabun"/>
              </a:rPr>
              <a:t>03</a:t>
            </a:r>
          </a:p>
        </p:txBody>
      </p:sp>
      <p:sp>
        <p:nvSpPr>
          <p:cNvPr id="12" name="ปรับงาน">
            <a:extLst xmlns:a="http://schemas.openxmlformats.org/drawingml/2006/main">
              <a:ext uri="{FF2B5EF4-FFF2-40B4-BE49-F238E27FC236}">
                <a16:creationId xmlns:a16="http://schemas.microsoft.com/office/drawing/2014/main" id="{A8DE1050-46E4-4D6A-A17A-547F18571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105150"/>
            <a:ext cx="2019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3347"/>
                </a:solidFill>
                <a:latin typeface="Sarabun"/>
                <a:ea typeface="Sarabun"/>
                <a:cs typeface="Sarabun"/>
              </a:defRPr>
            </a:pPr>
            <a:r>
              <a:rPr sz="2550" b="1">
                <a:solidFill>
                  <a:srgbClr val="153347"/>
                </a:solidFill>
                <a:latin typeface="Sarabun"/>
                <a:ea typeface="Sarabun"/>
                <a:cs typeface="Sarabun"/>
              </a:rPr>
              <a:t>ปรับงาน</a:t>
            </a:r>
          </a:p>
        </p:txBody>
      </p:sp>
      <p:sp>
        <p:nvSpPr>
          <p:cNvPr id="13" name="ทดลองวิธีที่&#10;หน้างานเห็นชอบ">
            <a:extLst xmlns:a="http://schemas.openxmlformats.org/drawingml/2006/main">
              <a:ext uri="{FF2B5EF4-FFF2-40B4-BE49-F238E27FC236}">
                <a16:creationId xmlns:a16="http://schemas.microsoft.com/office/drawing/2014/main" id="{2270437D-DBE1-462E-945C-752D48763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895725"/>
            <a:ext cx="20193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27083"/>
                </a:solidFill>
                <a:latin typeface="Sarabun"/>
                <a:ea typeface="Sarabun"/>
                <a:cs typeface="Sarabun"/>
              </a:defRPr>
            </a:pPr>
            <a:r>
              <a:rPr sz="2025" b="0">
                <a:solidFill>
                  <a:srgbClr val="527083"/>
                </a:solidFill>
                <a:latin typeface="Sarabun"/>
                <a:ea typeface="Sarabun"/>
                <a:cs typeface="Sarabun"/>
              </a:rPr>
              <a:t>ทดลองวิธีที่</a:t>
            </a:r>
          </a:p>
          <a:p xmlns:a="http://schemas.openxmlformats.org/drawingml/2006/main">
            <a:pPr algn="l">
              <a:defRPr sz="2025" b="0">
                <a:solidFill>
                  <a:srgbClr val="527083"/>
                </a:solidFill>
                <a:latin typeface="Sarabun"/>
                <a:ea typeface="Sarabun"/>
                <a:cs typeface="Sarabun"/>
              </a:defRPr>
            </a:pPr>
            <a:r>
              <a:rPr sz="2025" b="0">
                <a:solidFill>
                  <a:srgbClr val="527083"/>
                </a:solidFill>
                <a:latin typeface="Sarabun"/>
                <a:ea typeface="Sarabun"/>
                <a:cs typeface="Sarabun"/>
              </a:rPr>
              <a:t>หน้างานเห็นชอบ</a:t>
            </a:r>
          </a:p>
        </p:txBody>
      </p:sp>
      <p:sp>
        <p:nvSpPr>
          <p:cNvPr id="14" name="04">
            <a:extLst xmlns:a="http://schemas.openxmlformats.org/drawingml/2006/main">
              <a:ext uri="{FF2B5EF4-FFF2-40B4-BE49-F238E27FC236}">
                <a16:creationId xmlns:a16="http://schemas.microsoft.com/office/drawing/2014/main" id="{6484E78C-4240-4527-B6D3-724FDB594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2190750"/>
            <a:ext cx="2019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425" b="1">
                <a:solidFill>
                  <a:srgbClr val="009DDC"/>
                </a:solidFill>
                <a:latin typeface="Sarabun"/>
                <a:ea typeface="Sarabun"/>
                <a:cs typeface="Sarabun"/>
              </a:defRPr>
            </a:pPr>
            <a:r>
              <a:rPr sz="4425" b="1">
                <a:solidFill>
                  <a:srgbClr val="009DDC"/>
                </a:solidFill>
                <a:latin typeface="Sarabun"/>
                <a:ea typeface="Sarabun"/>
                <a:cs typeface="Sarabun"/>
              </a:rPr>
              <a:t>04</a:t>
            </a:r>
          </a:p>
        </p:txBody>
      </p:sp>
      <p:sp>
        <p:nvSpPr>
          <p:cNvPr id="15" name="วัดผล">
            <a:extLst xmlns:a="http://schemas.openxmlformats.org/drawingml/2006/main">
              <a:ext uri="{FF2B5EF4-FFF2-40B4-BE49-F238E27FC236}">
                <a16:creationId xmlns:a16="http://schemas.microsoft.com/office/drawing/2014/main" id="{00CD8B67-97E6-41A5-9D4E-44FC8DA3A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3105150"/>
            <a:ext cx="2019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3347"/>
                </a:solidFill>
                <a:latin typeface="Sarabun"/>
                <a:ea typeface="Sarabun"/>
                <a:cs typeface="Sarabun"/>
              </a:defRPr>
            </a:pPr>
            <a:r>
              <a:rPr sz="2550" b="1">
                <a:solidFill>
                  <a:srgbClr val="153347"/>
                </a:solidFill>
                <a:latin typeface="Sarabun"/>
                <a:ea typeface="Sarabun"/>
                <a:cs typeface="Sarabun"/>
              </a:rPr>
              <a:t>วัดผล</a:t>
            </a:r>
          </a:p>
        </p:txBody>
      </p:sp>
      <p:sp>
        <p:nvSpPr>
          <p:cNvPr id="16" name="เทียบค่าตั้งต้น&#10;ตามเงื่อนไขผลิต">
            <a:extLst xmlns:a="http://schemas.openxmlformats.org/drawingml/2006/main">
              <a:ext uri="{FF2B5EF4-FFF2-40B4-BE49-F238E27FC236}">
                <a16:creationId xmlns:a16="http://schemas.microsoft.com/office/drawing/2014/main" id="{06733E16-B4F0-4FB6-8F46-52B7B4607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3895725"/>
            <a:ext cx="20193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27083"/>
                </a:solidFill>
                <a:latin typeface="Sarabun"/>
                <a:ea typeface="Sarabun"/>
                <a:cs typeface="Sarabun"/>
              </a:defRPr>
            </a:pPr>
            <a:r>
              <a:rPr sz="2025" b="0">
                <a:solidFill>
                  <a:srgbClr val="527083"/>
                </a:solidFill>
                <a:latin typeface="Sarabun"/>
                <a:ea typeface="Sarabun"/>
                <a:cs typeface="Sarabun"/>
              </a:rPr>
              <a:t>เทียบค่าตั้งต้น</a:t>
            </a:r>
          </a:p>
          <a:p xmlns:a="http://schemas.openxmlformats.org/drawingml/2006/main">
            <a:pPr algn="l">
              <a:defRPr sz="2025" b="0">
                <a:solidFill>
                  <a:srgbClr val="527083"/>
                </a:solidFill>
                <a:latin typeface="Sarabun"/>
                <a:ea typeface="Sarabun"/>
                <a:cs typeface="Sarabun"/>
              </a:defRPr>
            </a:pPr>
            <a:r>
              <a:rPr sz="2025" b="0">
                <a:solidFill>
                  <a:srgbClr val="527083"/>
                </a:solidFill>
                <a:latin typeface="Sarabun"/>
                <a:ea typeface="Sarabun"/>
                <a:cs typeface="Sarabun"/>
              </a:rPr>
              <a:t>ตามเงื่อนไขผลิต</a:t>
            </a:r>
          </a:p>
        </p:txBody>
      </p:sp>
      <p:sp>
        <p:nvSpPr>
          <p:cNvPr id="17" name="05">
            <a:extLst xmlns:a="http://schemas.openxmlformats.org/drawingml/2006/main">
              <a:ext uri="{FF2B5EF4-FFF2-40B4-BE49-F238E27FC236}">
                <a16:creationId xmlns:a16="http://schemas.microsoft.com/office/drawing/2014/main" id="{2528568E-1E48-4E4D-890F-53E732E18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190750"/>
            <a:ext cx="2019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425" b="1">
                <a:solidFill>
                  <a:srgbClr val="50B948"/>
                </a:solidFill>
                <a:latin typeface="Sarabun"/>
                <a:ea typeface="Sarabun"/>
                <a:cs typeface="Sarabun"/>
              </a:defRPr>
            </a:pPr>
            <a:r>
              <a:rPr sz="4425" b="1">
                <a:solidFill>
                  <a:srgbClr val="50B948"/>
                </a:solidFill>
                <a:latin typeface="Sarabun"/>
                <a:ea typeface="Sarabun"/>
                <a:cs typeface="Sarabun"/>
              </a:rPr>
              <a:t>05</a:t>
            </a:r>
          </a:p>
        </p:txBody>
      </p:sp>
      <p:sp>
        <p:nvSpPr>
          <p:cNvPr id="18" name="ใช้ซ้ำ">
            <a:extLst xmlns:a="http://schemas.openxmlformats.org/drawingml/2006/main">
              <a:ext uri="{FF2B5EF4-FFF2-40B4-BE49-F238E27FC236}">
                <a16:creationId xmlns:a16="http://schemas.microsoft.com/office/drawing/2014/main" id="{E3DE76AB-4DED-4EB2-BD77-6BD2A71E4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105150"/>
            <a:ext cx="2019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3347"/>
                </a:solidFill>
                <a:latin typeface="Sarabun"/>
                <a:ea typeface="Sarabun"/>
                <a:cs typeface="Sarabun"/>
              </a:defRPr>
            </a:pPr>
            <a:r>
              <a:rPr sz="2550" b="1">
                <a:solidFill>
                  <a:srgbClr val="153347"/>
                </a:solidFill>
                <a:latin typeface="Sarabun"/>
                <a:ea typeface="Sarabun"/>
                <a:cs typeface="Sarabun"/>
              </a:rPr>
              <a:t>ใช้ซ้ำ</a:t>
            </a:r>
          </a:p>
        </p:txBody>
      </p:sp>
      <p:sp>
        <p:nvSpPr>
          <p:cNvPr id="19" name="เก็บวิธีทำ&#10;และข้อยกเว้น">
            <a:extLst xmlns:a="http://schemas.openxmlformats.org/drawingml/2006/main">
              <a:ext uri="{FF2B5EF4-FFF2-40B4-BE49-F238E27FC236}">
                <a16:creationId xmlns:a16="http://schemas.microsoft.com/office/drawing/2014/main" id="{676018F5-6C7E-4FB2-8C55-26E439C19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895725"/>
            <a:ext cx="20193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27083"/>
                </a:solidFill>
                <a:latin typeface="Sarabun"/>
                <a:ea typeface="Sarabun"/>
                <a:cs typeface="Sarabun"/>
              </a:defRPr>
            </a:pPr>
            <a:r>
              <a:rPr sz="2025" b="0">
                <a:solidFill>
                  <a:srgbClr val="527083"/>
                </a:solidFill>
                <a:latin typeface="Sarabun"/>
                <a:ea typeface="Sarabun"/>
                <a:cs typeface="Sarabun"/>
              </a:rPr>
              <a:t>เก็บวิธีทำ</a:t>
            </a:r>
          </a:p>
          <a:p xmlns:a="http://schemas.openxmlformats.org/drawingml/2006/main">
            <a:pPr algn="l">
              <a:defRPr sz="2025" b="0">
                <a:solidFill>
                  <a:srgbClr val="527083"/>
                </a:solidFill>
                <a:latin typeface="Sarabun"/>
                <a:ea typeface="Sarabun"/>
                <a:cs typeface="Sarabun"/>
              </a:defRPr>
            </a:pPr>
            <a:r>
              <a:rPr sz="2025" b="0">
                <a:solidFill>
                  <a:srgbClr val="527083"/>
                </a:solidFill>
                <a:latin typeface="Sarabun"/>
                <a:ea typeface="Sarabun"/>
                <a:cs typeface="Sarabun"/>
              </a:rPr>
              <a:t>และข้อยกเว้น</a:t>
            </a:r>
          </a:p>
        </p:txBody>
      </p:sp>
      <p:sp>
        <p:nvSpPr>
          <p:cNvPr id="20" name="Business และทีม Factory 4.0–ESG ตัดสินใจและเรียนรู">
            <a:extLst xmlns:a="http://schemas.openxmlformats.org/drawingml/2006/main">
              <a:ext uri="{FF2B5EF4-FFF2-40B4-BE49-F238E27FC236}">
                <a16:creationId xmlns:a16="http://schemas.microsoft.com/office/drawing/2014/main" id="{953BC11E-84E9-483C-B319-60491E2E8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0545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9DDC"/>
                </a:solidFill>
                <a:latin typeface="Sarabun"/>
                <a:ea typeface="Sarabun"/>
                <a:cs typeface="Sarabun"/>
              </a:defRPr>
            </a:pPr>
            <a:r>
              <a:rPr sz="2250" b="1">
                <a:solidFill>
                  <a:srgbClr val="009DDC"/>
                </a:solidFill>
                <a:latin typeface="Sarabun"/>
                <a:ea typeface="Sarabun"/>
                <a:cs typeface="Sarabun"/>
              </a:rPr>
              <a:t>Business และทีม Factory 4.0–ESG ตัดสินใจและเรียนรู้ร่วมกันตลอดวงจร</a:t>
            </a:r>
          </a:p>
        </p:txBody>
      </p:sp>
    </p:spTree>
    <p:extLst>
      <p:ext uri="{BB962C8B-B14F-4D97-AF65-F5344CB8AC3E}">
        <p14:creationId xmlns:p14="http://schemas.microsoft.com/office/powerpoint/2010/main" val="22652353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2f7703a50b401d"/>
          <a:stretch xmlns:a="http://schemas.openxmlformats.org/drawingml/2006/main"/>
        </p:blipFill>
        <p:spPr>
          <a:xfrm xmlns:a="http://schemas.openxmlformats.org/drawingml/2006/main">
            <a:off x="9810750" y="419109"/>
            <a:ext cx="1714500" cy="269921"/>
          </a:xfrm>
          <a:prstGeom xmlns:a="http://schemas.openxmlformats.org/drawingml/2006/main" prst="rect">
            <a:avLst/>
          </a:prstGeom>
        </p:spPr>
      </p:pic>
      <p:sp>
        <p:nvSpPr>
          <p:cNvPr id="2" name="ผลต้องดีขึ้นพร้อมรักษาการผลิต">
            <a:extLst xmlns:a="http://schemas.openxmlformats.org/drawingml/2006/main">
              <a:ext uri="{FF2B5EF4-FFF2-40B4-BE49-F238E27FC236}">
                <a16:creationId xmlns:a16="http://schemas.microsoft.com/office/drawing/2014/main" id="{BB543B4E-48C4-4D16-94F7-B96EF1F47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53347"/>
                </a:solidFill>
                <a:latin typeface="Sarabun"/>
                <a:ea typeface="Sarabun"/>
                <a:cs typeface="Sarabun"/>
              </a:defRPr>
            </a:pPr>
            <a:r>
              <a:rPr sz="3300" b="1">
                <a:solidFill>
                  <a:srgbClr val="153347"/>
                </a:solidFill>
                <a:latin typeface="Sarabun"/>
                <a:ea typeface="Sarabun"/>
                <a:cs typeface="Sarabun"/>
              </a:rPr>
              <a:t>ผลต้องดีขึ้นพร้อมรักษาการผลิต</a:t>
            </a:r>
          </a:p>
        </p:txBody>
      </p:sp>
      <p:sp>
        <p:nvSpPr>
          <p:cNvPr id="3" name="PCC Forum   1 ตุลาคม 2569">
            <a:extLst xmlns:a="http://schemas.openxmlformats.org/drawingml/2006/main">
              <a:ext uri="{FF2B5EF4-FFF2-40B4-BE49-F238E27FC236}">
                <a16:creationId xmlns:a16="http://schemas.microsoft.com/office/drawing/2014/main" id="{C17C525A-F737-421A-9CFC-BFC147ABF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7083"/>
                </a:solidFill>
                <a:latin typeface="Sarabun"/>
                <a:ea typeface="Sarabun"/>
                <a:cs typeface="Sarabun"/>
              </a:defRPr>
            </a:pPr>
            <a:r>
              <a:rPr sz="1275" b="0">
                <a:solidFill>
                  <a:srgbClr val="527083"/>
                </a:solidFill>
                <a:latin typeface="Sarabun"/>
                <a:ea typeface="Sarabun"/>
                <a:cs typeface="Sarabun"/>
              </a:rPr>
              <a:t>PCC Forum   1 ตุลาคม 2569</a:t>
            </a:r>
          </a:p>
        </p:txBody>
      </p:sp>
      <p:sp>
        <p:nvSpPr>
          <p:cNvPr id="4" name="07">
            <a:extLst xmlns:a="http://schemas.openxmlformats.org/drawingml/2006/main">
              <a:ext uri="{FF2B5EF4-FFF2-40B4-BE49-F238E27FC236}">
                <a16:creationId xmlns:a16="http://schemas.microsoft.com/office/drawing/2014/main" id="{272FB422-B87B-41CF-883B-D0101BAAF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527083"/>
                </a:solidFill>
                <a:latin typeface="Sarabun"/>
                <a:ea typeface="Sarabun"/>
                <a:cs typeface="Sarabun"/>
              </a:defRPr>
            </a:pPr>
            <a:r>
              <a:rPr sz="1500" b="1">
                <a:solidFill>
                  <a:srgbClr val="527083"/>
                </a:solidFill>
                <a:latin typeface="Sarabun"/>
                <a:ea typeface="Sarabun"/>
                <a:cs typeface="Sarabun"/>
              </a:rPr>
              <a:t>07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762125"/>
          <a:ext xmlns:a="http://schemas.openxmlformats.org/drawingml/2006/main" cx="10972800" cy="34385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791200"/>
                <a:gridCol w="5181600"/>
              </a:tblGrid>
              <a:tr h="609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Sarabun"/>
                          <a:ea typeface="Sarabun"/>
                          <a:cs typeface="Sarabun"/>
                        </a:rPr>
                        <a:t>ผลที่ต้องพิสูจน์</a:t>
                      </a:r>
                    </a:p>
                  </a:txBody>
                  <a:tcPr marL="171450" marR="171450" marT="123825" marB="123825" anchor="ctr">
                    <a:solidFill>
                      <a:srgbClr val="102C4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Sarabun"/>
                          <a:ea typeface="Sarabun"/>
                          <a:cs typeface="Sarabun"/>
                        </a:rPr>
                        <a:t>เงื่อนไขรักษางาน</a:t>
                      </a:r>
                    </a:p>
                  </a:txBody>
                  <a:tcPr marL="171450" marR="171450" marT="123825" marB="123825" anchor="ctr">
                    <a:solidFill>
                      <a:srgbClr val="102C40"/>
                    </a:solidFill>
                  </a:tcPr>
                </a:tc>
              </a:tr>
              <a:tr h="9429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153347"/>
                          </a:solidFill>
                          <a:latin typeface="Sarabun"/>
                          <a:ea typeface="Sarabun"/>
                          <a:cs typeface="Sarabun"/>
                        </a:rPr>
                        <a:t>พลังงานรวม และ kWh ต่อชิ้นงานดี</a:t>
                      </a:r>
                    </a:p>
                  </a:txBody>
                  <a:tcPr marL="171450" marR="171450" marT="123825" marB="123825" anchor="ctr">
                    <a:solidFill>
                      <a:srgbClr val="EE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>
                          <a:solidFill>
                            <a:srgbClr val="153347"/>
                          </a:solidFill>
                          <a:latin typeface="Sarabun"/>
                          <a:ea typeface="Sarabun"/>
                          <a:cs typeface="Sarabun"/>
                        </a:rPr>
                        <a:t>ปริมาณชิ้นงานดีและความเร็วการผลิต</a:t>
                      </a:r>
                    </a:p>
                  </a:txBody>
                  <a:tcPr marL="171450" marR="171450" marT="123825" marB="123825" anchor="ctr">
                    <a:solidFill>
                      <a:srgbClr val="FFFFFF"/>
                    </a:solidFill>
                  </a:tcPr>
                </a:tc>
              </a:tr>
              <a:tr h="9429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153347"/>
                          </a:solidFill>
                          <a:latin typeface="Sarabun"/>
                          <a:ea typeface="Sarabun"/>
                          <a:cs typeface="Sarabun"/>
                        </a:rPr>
                        <a:t>ค่าไฟที่ลดได้ตามโครงสร้างค่าไฟจริง</a:t>
                      </a:r>
                    </a:p>
                  </a:txBody>
                  <a:tcPr marL="171450" marR="171450" marT="123825" marB="123825" anchor="ctr">
                    <a:solidFill>
                      <a:srgbClr val="EE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>
                          <a:solidFill>
                            <a:srgbClr val="153347"/>
                          </a:solidFill>
                          <a:latin typeface="Sarabun"/>
                          <a:ea typeface="Sarabun"/>
                          <a:cs typeface="Sarabun"/>
                        </a:rPr>
                        <a:t>อัตราผ่านคุณภาพและงานเสีย</a:t>
                      </a:r>
                    </a:p>
                  </a:txBody>
                  <a:tcPr marL="171450" marR="171450" marT="123825" marB="123825" anchor="ctr">
                    <a:solidFill>
                      <a:srgbClr val="FFFFFF"/>
                    </a:solidFill>
                  </a:tcPr>
                </a:tc>
              </a:tr>
              <a:tr h="9429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153347"/>
                          </a:solidFill>
                          <a:latin typeface="Sarabun"/>
                          <a:ea typeface="Sarabun"/>
                          <a:cs typeface="Sarabun"/>
                        </a:rPr>
                        <a:t>GHG รวม และ GHG ต่อชิ้นงานดี</a:t>
                      </a:r>
                    </a:p>
                  </a:txBody>
                  <a:tcPr marL="171450" marR="171450" marT="123825" marB="123825" anchor="ctr">
                    <a:solidFill>
                      <a:srgbClr val="EE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>
                          <a:solidFill>
                            <a:srgbClr val="153347"/>
                          </a:solidFill>
                          <a:latin typeface="Sarabun"/>
                          <a:ea typeface="Sarabun"/>
                          <a:cs typeface="Sarabun"/>
                        </a:rPr>
                        <a:t>เวลาหยุดเครื่องและความปลอดภัย</a:t>
                      </a:r>
                    </a:p>
                  </a:txBody>
                  <a:tcPr marL="171450" marR="171450" marT="123825" marB="1238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เปรียบเทียบตามรุ่นและขนาดสินค้า ปริมาณงาน และชั่วโ">
            <a:extLst xmlns:a="http://schemas.openxmlformats.org/drawingml/2006/main">
              <a:ext uri="{FF2B5EF4-FFF2-40B4-BE49-F238E27FC236}">
                <a16:creationId xmlns:a16="http://schemas.microsoft.com/office/drawing/2014/main" id="{F3857593-7893-4B6B-AE3D-674809812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7687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9DDC"/>
                </a:solidFill>
                <a:latin typeface="Sarabun"/>
                <a:ea typeface="Sarabun"/>
                <a:cs typeface="Sarabun"/>
              </a:defRPr>
            </a:pPr>
            <a:r>
              <a:rPr sz="2025" b="1">
                <a:solidFill>
                  <a:srgbClr val="009DDC"/>
                </a:solidFill>
                <a:latin typeface="Sarabun"/>
                <a:ea typeface="Sarabun"/>
                <a:cs typeface="Sarabun"/>
              </a:rPr>
              <a:t>เปรียบเทียบตามรุ่นและขนาดสินค้า ปริมาณงาน และชั่วโมงเดินเครื่อง</a:t>
            </a:r>
          </a:p>
        </p:txBody>
      </p:sp>
      <p:sp>
        <p:nvSpPr>
          <p:cNvPr id="7" name="ดูทั้งยอดรวมและต่อหน่วย โดยระบุผลของปริมาณผลิตที่เ">
            <a:extLst xmlns:a="http://schemas.openxmlformats.org/drawingml/2006/main">
              <a:ext uri="{FF2B5EF4-FFF2-40B4-BE49-F238E27FC236}">
                <a16:creationId xmlns:a16="http://schemas.microsoft.com/office/drawing/2014/main" id="{A55D3BBE-51FD-4C54-BDF2-CB53909B7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7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27083"/>
                </a:solidFill>
                <a:latin typeface="Sarabun"/>
                <a:ea typeface="Sarabun"/>
                <a:cs typeface="Sarabun"/>
              </a:defRPr>
            </a:pPr>
            <a:r>
              <a:rPr sz="1725" b="0">
                <a:solidFill>
                  <a:srgbClr val="527083"/>
                </a:solidFill>
                <a:latin typeface="Sarabun"/>
                <a:ea typeface="Sarabun"/>
                <a:cs typeface="Sarabun"/>
              </a:rPr>
              <a:t>ดูทั้งยอดรวมและต่อหน่วย โดยระบุผลของปริมาณผลิตที่เปลี่ยนไป</a:t>
            </a:r>
          </a:p>
        </p:txBody>
      </p:sp>
    </p:spTree>
    <p:extLst>
      <p:ext uri="{BB962C8B-B14F-4D97-AF65-F5344CB8AC3E}">
        <p14:creationId xmlns:p14="http://schemas.microsoft.com/office/powerpoint/2010/main" val="13035267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cb24e0a372467d"/>
          <a:stretch xmlns:a="http://schemas.openxmlformats.org/drawingml/2006/main"/>
        </p:blipFill>
        <p:spPr>
          <a:xfrm xmlns:a="http://schemas.openxmlformats.org/drawingml/2006/main">
            <a:off x="9810750" y="419109"/>
            <a:ext cx="1714500" cy="269921"/>
          </a:xfrm>
          <a:prstGeom xmlns:a="http://schemas.openxmlformats.org/drawingml/2006/main" prst="rect">
            <a:avLst/>
          </a:prstGeom>
        </p:spPr>
      </p:pic>
      <p:sp>
        <p:nvSpPr>
          <p:cNvPr id="2" name="สิ่งที่ PCC Group จะได้">
            <a:extLst xmlns:a="http://schemas.openxmlformats.org/drawingml/2006/main">
              <a:ext uri="{FF2B5EF4-FFF2-40B4-BE49-F238E27FC236}">
                <a16:creationId xmlns:a16="http://schemas.microsoft.com/office/drawing/2014/main" id="{03FBD230-EFE9-47AA-A3DF-93B9E5084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53347"/>
                </a:solidFill>
                <a:latin typeface="Sarabun"/>
                <a:ea typeface="Sarabun"/>
                <a:cs typeface="Sarabun"/>
              </a:defRPr>
            </a:pPr>
            <a:r>
              <a:rPr sz="3300" b="1">
                <a:solidFill>
                  <a:srgbClr val="153347"/>
                </a:solidFill>
                <a:latin typeface="Sarabun"/>
                <a:ea typeface="Sarabun"/>
                <a:cs typeface="Sarabun"/>
              </a:rPr>
              <a:t>สิ่งที่ PCC Group จะได้</a:t>
            </a:r>
          </a:p>
        </p:txBody>
      </p:sp>
      <p:sp>
        <p:nvSpPr>
          <p:cNvPr id="3" name="PCC Forum   1 ตุลาคม 2569">
            <a:extLst xmlns:a="http://schemas.openxmlformats.org/drawingml/2006/main">
              <a:ext uri="{FF2B5EF4-FFF2-40B4-BE49-F238E27FC236}">
                <a16:creationId xmlns:a16="http://schemas.microsoft.com/office/drawing/2014/main" id="{D2246631-9A29-4F6B-8044-1B75CEF23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7083"/>
                </a:solidFill>
                <a:latin typeface="Sarabun"/>
                <a:ea typeface="Sarabun"/>
                <a:cs typeface="Sarabun"/>
              </a:defRPr>
            </a:pPr>
            <a:r>
              <a:rPr sz="1275" b="0">
                <a:solidFill>
                  <a:srgbClr val="527083"/>
                </a:solidFill>
                <a:latin typeface="Sarabun"/>
                <a:ea typeface="Sarabun"/>
                <a:cs typeface="Sarabun"/>
              </a:rPr>
              <a:t>PCC Forum   1 ตุลาคม 2569</a:t>
            </a:r>
          </a:p>
        </p:txBody>
      </p:sp>
      <p:sp>
        <p:nvSpPr>
          <p:cNvPr id="4" name="08">
            <a:extLst xmlns:a="http://schemas.openxmlformats.org/drawingml/2006/main">
              <a:ext uri="{FF2B5EF4-FFF2-40B4-BE49-F238E27FC236}">
                <a16:creationId xmlns:a16="http://schemas.microsoft.com/office/drawing/2014/main" id="{040E9A76-835D-4C23-9400-FB1E0646A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527083"/>
                </a:solidFill>
                <a:latin typeface="Sarabun"/>
                <a:ea typeface="Sarabun"/>
                <a:cs typeface="Sarabun"/>
              </a:defRPr>
            </a:pPr>
            <a:r>
              <a:rPr sz="1500" b="1">
                <a:solidFill>
                  <a:srgbClr val="527083"/>
                </a:solidFill>
                <a:latin typeface="Sarabun"/>
                <a:ea typeface="Sarabun"/>
                <a:cs typeface="Sarabun"/>
              </a:rPr>
              <a:t>08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724025"/>
          <a:ext xmlns:a="http://schemas.openxmlformats.org/drawingml/2006/main" cx="10972800" cy="40671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47900"/>
                <a:gridCol w="5295900"/>
                <a:gridCol w="3429000"/>
              </a:tblGrid>
              <a:tr h="609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Sarabun"/>
                          <a:ea typeface="Sarabun"/>
                          <a:cs typeface="Sarabun"/>
                        </a:rPr>
                        <a:t>ระดับผล</a:t>
                      </a:r>
                    </a:p>
                  </a:txBody>
                  <a:tcPr marL="171450" marR="171450" marT="123825" marB="123825" anchor="ctr">
                    <a:solidFill>
                      <a:srgbClr val="102C4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Sarabun"/>
                          <a:ea typeface="Sarabun"/>
                          <a:cs typeface="Sarabun"/>
                        </a:rPr>
                        <a:t>สิ่งที่มุ่งหวัง</a:t>
                      </a:r>
                    </a:p>
                  </a:txBody>
                  <a:tcPr marL="171450" marR="171450" marT="123825" marB="123825" anchor="ctr">
                    <a:solidFill>
                      <a:srgbClr val="102C4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Sarabun"/>
                          <a:ea typeface="Sarabun"/>
                          <a:cs typeface="Sarabun"/>
                        </a:rPr>
                        <a:t>หลักฐานที่ต้องเห็น</a:t>
                      </a:r>
                    </a:p>
                  </a:txBody>
                  <a:tcPr marL="171450" marR="171450" marT="123825" marB="123825" anchor="ctr">
                    <a:solidFill>
                      <a:srgbClr val="102C40"/>
                    </a:solidFill>
                  </a:tcPr>
                </a:tc>
              </a:tr>
              <a:tr h="11525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153347"/>
                          </a:solidFill>
                          <a:latin typeface="Sarabun"/>
                          <a:ea typeface="Sarabun"/>
                          <a:cs typeface="Sarabun"/>
                        </a:rPr>
                        <a:t>Output</a:t>
                      </a:r>
                    </a:p>
                    <a:p>
                      <a:r>
                        <a:rPr sz="2025" b="1">
                          <a:solidFill>
                            <a:srgbClr val="153347"/>
                          </a:solidFill>
                          <a:latin typeface="Sarabun"/>
                          <a:ea typeface="Sarabun"/>
                          <a:cs typeface="Sarabun"/>
                        </a:rPr>
                        <a:t>สิ่งส่งมอบ</a:t>
                      </a:r>
                    </a:p>
                  </a:txBody>
                  <a:tcPr marL="171450" marR="171450" marT="123825" marB="123825" anchor="ctr">
                    <a:solidFill>
                      <a:srgbClr val="EE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>
                          <a:solidFill>
                            <a:srgbClr val="153347"/>
                          </a:solidFill>
                          <a:latin typeface="Sarabun"/>
                          <a:ea typeface="Sarabun"/>
                          <a:cs typeface="Sarabun"/>
                        </a:rPr>
                        <a:t>ข้อมูลเชื่อมกัน ค่าตั้งต้น</a:t>
                      </a:r>
                    </a:p>
                    <a:p>
                      <a:r>
                        <a:rPr sz="2025">
                          <a:solidFill>
                            <a:srgbClr val="153347"/>
                          </a:solidFill>
                          <a:latin typeface="Sarabun"/>
                          <a:ea typeface="Sarabun"/>
                          <a:cs typeface="Sarabun"/>
                        </a:rPr>
                        <a:t>วิธีทดลอง และคู่มือหน้างาน</a:t>
                      </a:r>
                    </a:p>
                  </a:txBody>
                  <a:tcPr marL="171450" marR="171450" marT="123825" marB="1238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>
                          <a:solidFill>
                            <a:srgbClr val="153347"/>
                          </a:solidFill>
                          <a:latin typeface="Sarabun"/>
                          <a:ea typeface="Sarabun"/>
                          <a:cs typeface="Sarabun"/>
                        </a:rPr>
                        <a:t>มีข้อมูลและวิธีที่</a:t>
                      </a:r>
                    </a:p>
                    <a:p>
                      <a:r>
                        <a:rPr sz="2025">
                          <a:solidFill>
                            <a:srgbClr val="153347"/>
                          </a:solidFill>
                          <a:latin typeface="Sarabun"/>
                          <a:ea typeface="Sarabun"/>
                          <a:cs typeface="Sarabun"/>
                        </a:rPr>
                        <a:t>ตรวจย้อนกลับได้</a:t>
                      </a:r>
                    </a:p>
                  </a:txBody>
                  <a:tcPr marL="171450" marR="171450" marT="123825" marB="123825" anchor="ctr">
                    <a:solidFill>
                      <a:srgbClr val="FFFFFF"/>
                    </a:solidFill>
                  </a:tcPr>
                </a:tc>
              </a:tr>
              <a:tr h="11525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153347"/>
                          </a:solidFill>
                          <a:latin typeface="Sarabun"/>
                          <a:ea typeface="Sarabun"/>
                          <a:cs typeface="Sarabun"/>
                        </a:rPr>
                        <a:t>Outcome</a:t>
                      </a:r>
                    </a:p>
                    <a:p>
                      <a:r>
                        <a:rPr sz="2025" b="1">
                          <a:solidFill>
                            <a:srgbClr val="153347"/>
                          </a:solidFill>
                          <a:latin typeface="Sarabun"/>
                          <a:ea typeface="Sarabun"/>
                          <a:cs typeface="Sarabun"/>
                        </a:rPr>
                        <a:t>ผลจากการใช้</a:t>
                      </a:r>
                    </a:p>
                  </a:txBody>
                  <a:tcPr marL="171450" marR="171450" marT="123825" marB="123825" anchor="ctr">
                    <a:solidFill>
                      <a:srgbClr val="EE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>
                          <a:solidFill>
                            <a:srgbClr val="153347"/>
                          </a:solidFill>
                          <a:latin typeface="Sarabun"/>
                          <a:ea typeface="Sarabun"/>
                          <a:cs typeface="Sarabun"/>
                        </a:rPr>
                        <a:t>ลดไฟและต้นทุนที่ตรวจสอบได้</a:t>
                      </a:r>
                    </a:p>
                    <a:p>
                      <a:r>
                        <a:rPr sz="2025">
                          <a:solidFill>
                            <a:srgbClr val="153347"/>
                          </a:solidFill>
                          <a:latin typeface="Sarabun"/>
                          <a:ea typeface="Sarabun"/>
                          <a:cs typeface="Sarabun"/>
                        </a:rPr>
                        <a:t>พร้อมรักษาเกณฑ์การผลิต</a:t>
                      </a:r>
                    </a:p>
                  </a:txBody>
                  <a:tcPr marL="171450" marR="171450" marT="123825" marB="1238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>
                          <a:solidFill>
                            <a:srgbClr val="153347"/>
                          </a:solidFill>
                          <a:latin typeface="Sarabun"/>
                          <a:ea typeface="Sarabun"/>
                          <a:cs typeface="Sarabun"/>
                        </a:rPr>
                        <a:t>หน้างานใช้จริง</a:t>
                      </a:r>
                    </a:p>
                    <a:p>
                      <a:r>
                        <a:rPr sz="2025">
                          <a:solidFill>
                            <a:srgbClr val="153347"/>
                          </a:solidFill>
                          <a:latin typeface="Sarabun"/>
                          <a:ea typeface="Sarabun"/>
                          <a:cs typeface="Sarabun"/>
                        </a:rPr>
                        <a:t>ผลก่อนและหลัง</a:t>
                      </a:r>
                    </a:p>
                  </a:txBody>
                  <a:tcPr marL="171450" marR="171450" marT="123825" marB="123825" anchor="ctr">
                    <a:solidFill>
                      <a:srgbClr val="FFFFFF"/>
                    </a:solidFill>
                  </a:tcPr>
                </a:tc>
              </a:tr>
              <a:tr h="11525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153347"/>
                          </a:solidFill>
                          <a:latin typeface="Sarabun"/>
                          <a:ea typeface="Sarabun"/>
                          <a:cs typeface="Sarabun"/>
                        </a:rPr>
                        <a:t>Impact</a:t>
                      </a:r>
                    </a:p>
                    <a:p>
                      <a:r>
                        <a:rPr sz="2025" b="1">
                          <a:solidFill>
                            <a:srgbClr val="153347"/>
                          </a:solidFill>
                          <a:latin typeface="Sarabun"/>
                          <a:ea typeface="Sarabun"/>
                          <a:cs typeface="Sarabun"/>
                        </a:rPr>
                        <a:t>คุณค่าระยะยาว</a:t>
                      </a:r>
                    </a:p>
                  </a:txBody>
                  <a:tcPr marL="171450" marR="171450" marT="123825" marB="123825" anchor="ctr">
                    <a:solidFill>
                      <a:srgbClr val="EE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>
                          <a:solidFill>
                            <a:srgbClr val="153347"/>
                          </a:solidFill>
                          <a:latin typeface="Sarabun"/>
                          <a:ea typeface="Sarabun"/>
                          <a:cs typeface="Sarabun"/>
                        </a:rPr>
                        <a:t>ความสามารถที่ทำซ้ำได้</a:t>
                      </a:r>
                    </a:p>
                    <a:p>
                      <a:r>
                        <a:rPr sz="2025">
                          <a:solidFill>
                            <a:srgbClr val="153347"/>
                          </a:solidFill>
                          <a:latin typeface="Sarabun"/>
                          <a:ea typeface="Sarabun"/>
                          <a:cs typeface="Sarabun"/>
                        </a:rPr>
                        <a:t>และต้นแบบบริการลูกค้า</a:t>
                      </a:r>
                    </a:p>
                  </a:txBody>
                  <a:tcPr marL="171450" marR="171450" marT="123825" marB="1238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>
                          <a:solidFill>
                            <a:srgbClr val="153347"/>
                          </a:solidFill>
                          <a:latin typeface="Sarabun"/>
                          <a:ea typeface="Sarabun"/>
                          <a:cs typeface="Sarabun"/>
                        </a:rPr>
                        <a:t>ผลคงอยู่ ขยายได้</a:t>
                      </a:r>
                    </a:p>
                    <a:p>
                      <a:r>
                        <a:rPr sz="2025">
                          <a:solidFill>
                            <a:srgbClr val="153347"/>
                          </a:solidFill>
                          <a:latin typeface="Sarabun"/>
                          <a:ea typeface="Sarabun"/>
                          <a:cs typeface="Sarabun"/>
                        </a:rPr>
                        <a:t>ลูกค้ายืนยันคุณค่า</a:t>
                      </a:r>
                    </a:p>
                  </a:txBody>
                  <a:tcPr marL="171450" marR="171450" marT="123825" marB="1238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ผลจากการใช้และคุณค่าระยะยาวต้องพิสูจน์ต่อจากสิ่งส่">
            <a:extLst xmlns:a="http://schemas.openxmlformats.org/drawingml/2006/main">
              <a:ext uri="{FF2B5EF4-FFF2-40B4-BE49-F238E27FC236}">
                <a16:creationId xmlns:a16="http://schemas.microsoft.com/office/drawing/2014/main" id="{707DF50A-AA32-4F22-B853-46D09866D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34075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27083"/>
                </a:solidFill>
                <a:latin typeface="Sarabun"/>
                <a:ea typeface="Sarabun"/>
                <a:cs typeface="Sarabun"/>
              </a:defRPr>
            </a:pPr>
            <a:r>
              <a:rPr sz="1800" b="0">
                <a:solidFill>
                  <a:srgbClr val="527083"/>
                </a:solidFill>
                <a:latin typeface="Sarabun"/>
                <a:ea typeface="Sarabun"/>
                <a:cs typeface="Sarabun"/>
              </a:rPr>
              <a:t>ผลจากการใช้และคุณค่าระยะยาวต้องพิสูจน์ต่อจากสิ่งส่งมอบ</a:t>
            </a:r>
          </a:p>
        </p:txBody>
      </p:sp>
    </p:spTree>
    <p:extLst>
      <p:ext uri="{BB962C8B-B14F-4D97-AF65-F5344CB8AC3E}">
        <p14:creationId xmlns:p14="http://schemas.microsoft.com/office/powerpoint/2010/main" val="200727628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26df2eedac463c"/>
          <a:stretch xmlns:a="http://schemas.openxmlformats.org/drawingml/2006/main"/>
        </p:blipFill>
        <p:spPr>
          <a:xfrm xmlns:a="http://schemas.openxmlformats.org/drawingml/2006/main">
            <a:off x="9810750" y="419109"/>
            <a:ext cx="1714500" cy="269921"/>
          </a:xfrm>
          <a:prstGeom xmlns:a="http://schemas.openxmlformats.org/drawingml/2006/main" prst="rect">
            <a:avLst/>
          </a:prstGeom>
        </p:spPr>
      </p:pic>
      <p:sp>
        <p:nvSpPr>
          <p:cNvPr id="2" name="Business เป็นเจ้าของโจทย์และผลลัพธ์">
            <a:extLst xmlns:a="http://schemas.openxmlformats.org/drawingml/2006/main">
              <a:ext uri="{FF2B5EF4-FFF2-40B4-BE49-F238E27FC236}">
                <a16:creationId xmlns:a16="http://schemas.microsoft.com/office/drawing/2014/main" id="{D92C5D06-92AF-47FF-AC04-5B0F3629B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53347"/>
                </a:solidFill>
                <a:latin typeface="Sarabun"/>
                <a:ea typeface="Sarabun"/>
                <a:cs typeface="Sarabun"/>
              </a:defRPr>
            </a:pPr>
            <a:r>
              <a:rPr sz="3300" b="1">
                <a:solidFill>
                  <a:srgbClr val="153347"/>
                </a:solidFill>
                <a:latin typeface="Sarabun"/>
                <a:ea typeface="Sarabun"/>
                <a:cs typeface="Sarabun"/>
              </a:rPr>
              <a:t>Business เป็นเจ้าของโจทย์และผลลัพธ์</a:t>
            </a:r>
          </a:p>
        </p:txBody>
      </p:sp>
      <p:sp>
        <p:nvSpPr>
          <p:cNvPr id="3" name="PCC Forum   1 ตุลาคม 2569">
            <a:extLst xmlns:a="http://schemas.openxmlformats.org/drawingml/2006/main">
              <a:ext uri="{FF2B5EF4-FFF2-40B4-BE49-F238E27FC236}">
                <a16:creationId xmlns:a16="http://schemas.microsoft.com/office/drawing/2014/main" id="{1E14DEB2-94A0-41C7-8BC9-B4C118897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7083"/>
                </a:solidFill>
                <a:latin typeface="Sarabun"/>
                <a:ea typeface="Sarabun"/>
                <a:cs typeface="Sarabun"/>
              </a:defRPr>
            </a:pPr>
            <a:r>
              <a:rPr sz="1275" b="0">
                <a:solidFill>
                  <a:srgbClr val="527083"/>
                </a:solidFill>
                <a:latin typeface="Sarabun"/>
                <a:ea typeface="Sarabun"/>
                <a:cs typeface="Sarabun"/>
              </a:rPr>
              <a:t>PCC Forum   1 ตุลาคม 2569</a:t>
            </a:r>
          </a:p>
        </p:txBody>
      </p:sp>
      <p:sp>
        <p:nvSpPr>
          <p:cNvPr id="4" name="09">
            <a:extLst xmlns:a="http://schemas.openxmlformats.org/drawingml/2006/main">
              <a:ext uri="{FF2B5EF4-FFF2-40B4-BE49-F238E27FC236}">
                <a16:creationId xmlns:a16="http://schemas.microsoft.com/office/drawing/2014/main" id="{B9DCD10E-D9D1-4929-A5F9-0FCE66970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527083"/>
                </a:solidFill>
                <a:latin typeface="Sarabun"/>
                <a:ea typeface="Sarabun"/>
                <a:cs typeface="Sarabun"/>
              </a:defRPr>
            </a:pPr>
            <a:r>
              <a:rPr sz="1500" b="1">
                <a:solidFill>
                  <a:srgbClr val="527083"/>
                </a:solidFill>
                <a:latin typeface="Sarabun"/>
                <a:ea typeface="Sarabun"/>
                <a:cs typeface="Sarabun"/>
              </a:rPr>
              <a:t>09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762125"/>
          <a:ext xmlns:a="http://schemas.openxmlformats.org/drawingml/2006/main" cx="10972800" cy="36480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486400"/>
                <a:gridCol w="5486400"/>
              </a:tblGrid>
              <a:tr h="6000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Sarabun"/>
                          <a:ea typeface="Sarabun"/>
                          <a:cs typeface="Sarabun"/>
                        </a:rPr>
                        <a:t>Business</a:t>
                      </a:r>
                    </a:p>
                  </a:txBody>
                  <a:tcPr marL="171450" marR="171450" marT="123825" marB="123825" anchor="ctr">
                    <a:solidFill>
                      <a:srgbClr val="102C4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Sarabun"/>
                          <a:ea typeface="Sarabun"/>
                          <a:cs typeface="Sarabun"/>
                        </a:rPr>
                        <a:t>ทีม Factory 4.0–ESG</a:t>
                      </a:r>
                    </a:p>
                  </a:txBody>
                  <a:tcPr marL="171450" marR="171450" marT="123825" marB="123825" anchor="ctr">
                    <a:solidFill>
                      <a:srgbClr val="102C40"/>
                    </a:solidFill>
                  </a:tcPr>
                </a:tc>
              </a:tr>
              <a:tr h="762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153347"/>
                          </a:solidFill>
                          <a:latin typeface="Sarabun"/>
                          <a:ea typeface="Sarabun"/>
                          <a:cs typeface="Sarabun"/>
                        </a:rPr>
                        <a:t>เลือกปัญหาและไลน์ที่มีคุณค่า</a:t>
                      </a:r>
                    </a:p>
                  </a:txBody>
                  <a:tcPr marL="171450" marR="171450" marT="123825" marB="123825" anchor="ctr">
                    <a:solidFill>
                      <a:srgbClr val="EE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>
                          <a:solidFill>
                            <a:srgbClr val="153347"/>
                          </a:solidFill>
                          <a:latin typeface="Sarabun"/>
                          <a:ea typeface="Sarabun"/>
                          <a:cs typeface="Sarabun"/>
                        </a:rPr>
                        <a:t>ออกแบบวิธีเชื่อมข้อมูลและการทดลอง</a:t>
                      </a:r>
                    </a:p>
                  </a:txBody>
                  <a:tcPr marL="171450" marR="171450" marT="123825" marB="123825" anchor="ctr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153347"/>
                          </a:solidFill>
                          <a:latin typeface="Sarabun"/>
                          <a:ea typeface="Sarabun"/>
                          <a:cs typeface="Sarabun"/>
                        </a:rPr>
                        <a:t>จัดคนหน้างานและเวลาร่วมทำ</a:t>
                      </a:r>
                    </a:p>
                  </a:txBody>
                  <a:tcPr marL="171450" marR="171450" marT="123825" marB="123825" anchor="ctr">
                    <a:solidFill>
                      <a:srgbClr val="EE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>
                          <a:solidFill>
                            <a:srgbClr val="153347"/>
                          </a:solidFill>
                          <a:latin typeface="Sarabun"/>
                          <a:ea typeface="Sarabun"/>
                          <a:cs typeface="Sarabun"/>
                        </a:rPr>
                        <a:t>ช่วยวิเคราะห์พลังงานและคาร์บอน</a:t>
                      </a:r>
                    </a:p>
                  </a:txBody>
                  <a:tcPr marL="171450" marR="171450" marT="123825" marB="123825" anchor="ctr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153347"/>
                          </a:solidFill>
                          <a:latin typeface="Sarabun"/>
                          <a:ea typeface="Sarabun"/>
                          <a:cs typeface="Sarabun"/>
                        </a:rPr>
                        <a:t>แชร์ข้อมูลและอธิบายกระบวนการ</a:t>
                      </a:r>
                    </a:p>
                  </a:txBody>
                  <a:tcPr marL="171450" marR="171450" marT="123825" marB="123825" anchor="ctr">
                    <a:solidFill>
                      <a:srgbClr val="EE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>
                          <a:solidFill>
                            <a:srgbClr val="153347"/>
                          </a:solidFill>
                          <a:latin typeface="Sarabun"/>
                          <a:ea typeface="Sarabun"/>
                          <a:cs typeface="Sarabun"/>
                        </a:rPr>
                        <a:t>ตรวจคุณภาพข้อมูลและวิธีวัดผล</a:t>
                      </a:r>
                    </a:p>
                  </a:txBody>
                  <a:tcPr marL="171450" marR="171450" marT="123825" marB="123825" anchor="ctr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153347"/>
                          </a:solidFill>
                          <a:latin typeface="Sarabun"/>
                          <a:ea typeface="Sarabun"/>
                          <a:cs typeface="Sarabun"/>
                        </a:rPr>
                        <a:t>ทดลอง ปรับงาน และรักษาผล</a:t>
                      </a:r>
                    </a:p>
                  </a:txBody>
                  <a:tcPr marL="171450" marR="171450" marT="123825" marB="123825" anchor="ctr">
                    <a:solidFill>
                      <a:srgbClr val="EE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>
                          <a:solidFill>
                            <a:srgbClr val="153347"/>
                          </a:solidFill>
                          <a:latin typeface="Sarabun"/>
                          <a:ea typeface="Sarabun"/>
                          <a:cs typeface="Sarabun"/>
                        </a:rPr>
                        <a:t>เก็บวิธีที่นำไปใช้ซ้ำได้</a:t>
                      </a:r>
                    </a:p>
                  </a:txBody>
                  <a:tcPr marL="171450" marR="171450" marT="123825" marB="1238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เลือกโจทย์ ตั้งเกณฑ์ และยืนยันผลร่วมกัน">
            <a:extLst xmlns:a="http://schemas.openxmlformats.org/drawingml/2006/main">
              <a:ext uri="{FF2B5EF4-FFF2-40B4-BE49-F238E27FC236}">
                <a16:creationId xmlns:a16="http://schemas.microsoft.com/office/drawing/2014/main" id="{811D4FB5-A15A-46F8-8D50-D92F81178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34050"/>
            <a:ext cx="109728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09DDC"/>
                </a:solidFill>
                <a:latin typeface="Sarabun"/>
                <a:ea typeface="Sarabun"/>
                <a:cs typeface="Sarabun"/>
              </a:defRPr>
            </a:pPr>
            <a:r>
              <a:rPr sz="2475" b="1">
                <a:solidFill>
                  <a:srgbClr val="009DDC"/>
                </a:solidFill>
                <a:latin typeface="Sarabun"/>
                <a:ea typeface="Sarabun"/>
                <a:cs typeface="Sarabun"/>
              </a:rPr>
              <a:t>เลือกโจทย์ ตั้งเกณฑ์ และยืนยันผลร่วมกัน</a:t>
            </a:r>
          </a:p>
        </p:txBody>
      </p:sp>
    </p:spTree>
    <p:extLst>
      <p:ext uri="{BB962C8B-B14F-4D97-AF65-F5344CB8AC3E}">
        <p14:creationId xmlns:p14="http://schemas.microsoft.com/office/powerpoint/2010/main" val="193239962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be1a27664b4b46"/>
          <a:stretch xmlns:a="http://schemas.openxmlformats.org/drawingml/2006/main"/>
        </p:blipFill>
        <p:spPr>
          <a:xfrm xmlns:a="http://schemas.openxmlformats.org/drawingml/2006/main">
            <a:off x="9810750" y="419109"/>
            <a:ext cx="1714500" cy="269921"/>
          </a:xfrm>
          <a:prstGeom xmlns:a="http://schemas.openxmlformats.org/drawingml/2006/main" prst="rect">
            <a:avLst/>
          </a:prstGeom>
        </p:spPr>
      </p:pic>
      <p:sp>
        <p:nvSpPr>
          <p:cNvPr id="2" name="โครงการต่อยอดเมื่อมีหลักฐาน">
            <a:extLst xmlns:a="http://schemas.openxmlformats.org/drawingml/2006/main">
              <a:ext uri="{FF2B5EF4-FFF2-40B4-BE49-F238E27FC236}">
                <a16:creationId xmlns:a16="http://schemas.microsoft.com/office/drawing/2014/main" id="{8901085C-55E2-405D-AB98-60733161E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53347"/>
                </a:solidFill>
                <a:latin typeface="Sarabun"/>
                <a:ea typeface="Sarabun"/>
                <a:cs typeface="Sarabun"/>
              </a:defRPr>
            </a:pPr>
            <a:r>
              <a:rPr sz="3300" b="1">
                <a:solidFill>
                  <a:srgbClr val="153347"/>
                </a:solidFill>
                <a:latin typeface="Sarabun"/>
                <a:ea typeface="Sarabun"/>
                <a:cs typeface="Sarabun"/>
              </a:rPr>
              <a:t>โครงการต่อยอดเมื่อมีหลักฐาน</a:t>
            </a:r>
          </a:p>
        </p:txBody>
      </p:sp>
      <p:sp>
        <p:nvSpPr>
          <p:cNvPr id="3" name="PCC Forum   1 ตุลาคม 2569">
            <a:extLst xmlns:a="http://schemas.openxmlformats.org/drawingml/2006/main">
              <a:ext uri="{FF2B5EF4-FFF2-40B4-BE49-F238E27FC236}">
                <a16:creationId xmlns:a16="http://schemas.microsoft.com/office/drawing/2014/main" id="{61A80776-636A-42A0-B5DA-773B82699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7083"/>
                </a:solidFill>
                <a:latin typeface="Sarabun"/>
                <a:ea typeface="Sarabun"/>
                <a:cs typeface="Sarabun"/>
              </a:defRPr>
            </a:pPr>
            <a:r>
              <a:rPr sz="1275" b="0">
                <a:solidFill>
                  <a:srgbClr val="527083"/>
                </a:solidFill>
                <a:latin typeface="Sarabun"/>
                <a:ea typeface="Sarabun"/>
                <a:cs typeface="Sarabun"/>
              </a:rPr>
              <a:t>PCC Forum   1 ตุลาคม 2569</a:t>
            </a:r>
          </a:p>
        </p:txBody>
      </p:sp>
      <p:sp>
        <p:nvSpPr>
          <p:cNvPr id="4" name="10">
            <a:extLst xmlns:a="http://schemas.openxmlformats.org/drawingml/2006/main">
              <a:ext uri="{FF2B5EF4-FFF2-40B4-BE49-F238E27FC236}">
                <a16:creationId xmlns:a16="http://schemas.microsoft.com/office/drawing/2014/main" id="{F2AA77C2-9BAA-4CD4-BDA3-AA4318C45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527083"/>
                </a:solidFill>
                <a:latin typeface="Sarabun"/>
                <a:ea typeface="Sarabun"/>
                <a:cs typeface="Sarabun"/>
              </a:defRPr>
            </a:pPr>
            <a:r>
              <a:rPr sz="1500" b="1">
                <a:solidFill>
                  <a:srgbClr val="527083"/>
                </a:solidFill>
                <a:latin typeface="Sarabun"/>
                <a:ea typeface="Sarabun"/>
                <a:cs typeface="Sarabun"/>
              </a:rPr>
              <a:t>10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666875"/>
          <a:ext xmlns:a="http://schemas.openxmlformats.org/drawingml/2006/main" cx="10972800" cy="42195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62225"/>
                <a:gridCol w="4781550"/>
                <a:gridCol w="3629025"/>
              </a:tblGrid>
              <a:tr h="5619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Sarabun"/>
                          <a:ea typeface="Sarabun"/>
                          <a:cs typeface="Sarabun"/>
                        </a:rPr>
                        <a:t>โอกาสต่อยอด</a:t>
                      </a:r>
                    </a:p>
                  </a:txBody>
                  <a:tcPr marL="171450" marR="171450" marT="123825" marB="123825" anchor="ctr">
                    <a:solidFill>
                      <a:srgbClr val="102C4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Sarabun"/>
                          <a:ea typeface="Sarabun"/>
                          <a:cs typeface="Sarabun"/>
                        </a:rPr>
                        <a:t>ตัวอย่างงาน</a:t>
                      </a:r>
                    </a:p>
                  </a:txBody>
                  <a:tcPr marL="171450" marR="171450" marT="123825" marB="123825" anchor="ctr">
                    <a:solidFill>
                      <a:srgbClr val="102C4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Sarabun"/>
                          <a:ea typeface="Sarabun"/>
                          <a:cs typeface="Sarabun"/>
                        </a:rPr>
                        <a:t>ก่อนขยายต้องพิสูจน์</a:t>
                      </a:r>
                    </a:p>
                  </a:txBody>
                  <a:tcPr marL="171450" marR="171450" marT="123825" marB="123825" anchor="ctr">
                    <a:solidFill>
                      <a:srgbClr val="102C40"/>
                    </a:solidFill>
                  </a:tcPr>
                </a:tc>
              </a:tr>
              <a:tr h="9144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3347"/>
                          </a:solidFill>
                          <a:latin typeface="Sarabun"/>
                          <a:ea typeface="Sarabun"/>
                          <a:cs typeface="Sarabun"/>
                        </a:rPr>
                        <a:t>ทั้งโรงงาน</a:t>
                      </a:r>
                    </a:p>
                  </a:txBody>
                  <a:tcPr marL="171450" marR="171450" marT="123825" marB="123825" anchor="ctr">
                    <a:solidFill>
                      <a:srgbClr val="EE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53347"/>
                          </a:solidFill>
                          <a:latin typeface="Sarabun"/>
                          <a:ea typeface="Sarabun"/>
                          <a:cs typeface="Sarabun"/>
                        </a:rPr>
                        <a:t>การจัดการพลังงานและคาร์บอน</a:t>
                      </a:r>
                    </a:p>
                    <a:p>
                      <a:r>
                        <a:rPr sz="1800">
                          <a:solidFill>
                            <a:srgbClr val="153347"/>
                          </a:solidFill>
                          <a:latin typeface="Sarabun"/>
                          <a:ea typeface="Sarabun"/>
                          <a:cs typeface="Sarabun"/>
                        </a:rPr>
                        <a:t>ข้ามไลน์ผลิต</a:t>
                      </a:r>
                    </a:p>
                  </a:txBody>
                  <a:tcPr marL="171450" marR="171450" marT="123825" marB="1238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53347"/>
                          </a:solidFill>
                          <a:latin typeface="Sarabun"/>
                          <a:ea typeface="Sarabun"/>
                          <a:cs typeface="Sarabun"/>
                        </a:rPr>
                        <a:t>วิธีวัดเทียบกันได้</a:t>
                      </a:r>
                    </a:p>
                    <a:p>
                      <a:r>
                        <a:rPr sz="1800">
                          <a:solidFill>
                            <a:srgbClr val="153347"/>
                          </a:solidFill>
                          <a:latin typeface="Sarabun"/>
                          <a:ea typeface="Sarabun"/>
                          <a:cs typeface="Sarabun"/>
                        </a:rPr>
                        <a:t>มีคนรับผิดชอบ</a:t>
                      </a:r>
                    </a:p>
                  </a:txBody>
                  <a:tcPr marL="171450" marR="171450" marT="123825" marB="123825" anchor="ctr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3347"/>
                          </a:solidFill>
                          <a:latin typeface="Sarabun"/>
                          <a:ea typeface="Sarabun"/>
                          <a:cs typeface="Sarabun"/>
                        </a:rPr>
                        <a:t>เครื่องจักร</a:t>
                      </a:r>
                    </a:p>
                    <a:p>
                      <a:r>
                        <a:rPr sz="1800" b="1">
                          <a:solidFill>
                            <a:srgbClr val="153347"/>
                          </a:solidFill>
                          <a:latin typeface="Sarabun"/>
                          <a:ea typeface="Sarabun"/>
                          <a:cs typeface="Sarabun"/>
                        </a:rPr>
                        <a:t>และคุณภาพ</a:t>
                      </a:r>
                    </a:p>
                  </a:txBody>
                  <a:tcPr marL="171450" marR="171450" marT="123825" marB="123825" anchor="ctr">
                    <a:solidFill>
                      <a:srgbClr val="EE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53347"/>
                          </a:solidFill>
                          <a:latin typeface="Sarabun"/>
                          <a:ea typeface="Sarabun"/>
                          <a:cs typeface="Sarabun"/>
                        </a:rPr>
                        <a:t>วิเคราะห์ความผิดปกติ</a:t>
                      </a:r>
                    </a:p>
                    <a:p>
                      <a:r>
                        <a:rPr sz="1800">
                          <a:solidFill>
                            <a:srgbClr val="153347"/>
                          </a:solidFill>
                          <a:latin typeface="Sarabun"/>
                          <a:ea typeface="Sarabun"/>
                          <a:cs typeface="Sarabun"/>
                        </a:rPr>
                        <a:t>AI ช่วยเมื่อข้อมูลพร้อม</a:t>
                      </a:r>
                    </a:p>
                  </a:txBody>
                  <a:tcPr marL="171450" marR="171450" marT="123825" marB="1238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53347"/>
                          </a:solidFill>
                          <a:latin typeface="Sarabun"/>
                          <a:ea typeface="Sarabun"/>
                          <a:cs typeface="Sarabun"/>
                        </a:rPr>
                        <a:t>มีเหตุการณ์จริงให้เรียนรู้</a:t>
                      </a:r>
                    </a:p>
                    <a:p>
                      <a:r>
                        <a:rPr sz="1800">
                          <a:solidFill>
                            <a:srgbClr val="153347"/>
                          </a:solidFill>
                          <a:latin typeface="Sarabun"/>
                          <a:ea typeface="Sarabun"/>
                          <a:cs typeface="Sarabun"/>
                        </a:rPr>
                        <a:t>คำแนะนำช่วยหน้างานได้</a:t>
                      </a:r>
                    </a:p>
                  </a:txBody>
                  <a:tcPr marL="171450" marR="171450" marT="123825" marB="123825" anchor="ctr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3347"/>
                          </a:solidFill>
                          <a:latin typeface="Sarabun"/>
                          <a:ea typeface="Sarabun"/>
                          <a:cs typeface="Sarabun"/>
                        </a:rPr>
                        <a:t>พลังงานทั้งระบบ</a:t>
                      </a:r>
                    </a:p>
                  </a:txBody>
                  <a:tcPr marL="171450" marR="171450" marT="123825" marB="123825" anchor="ctr">
                    <a:solidFill>
                      <a:srgbClr val="EE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53347"/>
                          </a:solidFill>
                          <a:latin typeface="Sarabun"/>
                          <a:ea typeface="Sarabun"/>
                          <a:cs typeface="Sarabun"/>
                        </a:rPr>
                        <a:t>โซลาร์ แบตเตอรี่ ลดช่วงใช้ไฟสูงสุด</a:t>
                      </a:r>
                    </a:p>
                    <a:p>
                      <a:r>
                        <a:rPr sz="1800">
                          <a:solidFill>
                            <a:srgbClr val="153347"/>
                          </a:solidFill>
                          <a:latin typeface="Sarabun"/>
                          <a:ea typeface="Sarabun"/>
                          <a:cs typeface="Sarabun"/>
                        </a:rPr>
                        <a:t>ซื้อไฟตรง (Direct PPA) เมื่อพร้อม</a:t>
                      </a:r>
                    </a:p>
                  </a:txBody>
                  <a:tcPr marL="171450" marR="171450" marT="123825" marB="1238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53347"/>
                          </a:solidFill>
                          <a:latin typeface="Sarabun"/>
                          <a:ea typeface="Sarabun"/>
                          <a:cs typeface="Sarabun"/>
                        </a:rPr>
                        <a:t>ความคุ้มค่า ความปลอดภัย</a:t>
                      </a:r>
                    </a:p>
                    <a:p>
                      <a:r>
                        <a:rPr sz="1800">
                          <a:solidFill>
                            <a:srgbClr val="153347"/>
                          </a:solidFill>
                          <a:latin typeface="Sarabun"/>
                          <a:ea typeface="Sarabun"/>
                          <a:cs typeface="Sarabun"/>
                        </a:rPr>
                        <a:t>และกติกาที่เกี่ยวข้อง</a:t>
                      </a:r>
                    </a:p>
                  </a:txBody>
                  <a:tcPr marL="171450" marR="171450" marT="123825" marB="123825" anchor="ctr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3347"/>
                          </a:solidFill>
                          <a:latin typeface="Sarabun"/>
                          <a:ea typeface="Sarabun"/>
                          <a:cs typeface="Sarabun"/>
                        </a:rPr>
                        <a:t>ลูกค้าและภูมิภาค</a:t>
                      </a:r>
                    </a:p>
                  </a:txBody>
                  <a:tcPr marL="171450" marR="171450" marT="123825" marB="123825" anchor="ctr">
                    <a:solidFill>
                      <a:srgbClr val="EE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53347"/>
                          </a:solidFill>
                          <a:latin typeface="Sarabun"/>
                          <a:ea typeface="Sarabun"/>
                          <a:cs typeface="Sarabun"/>
                        </a:rPr>
                        <a:t>บริการวิศวกรรม</a:t>
                      </a:r>
                    </a:p>
                    <a:p>
                      <a:r>
                        <a:rPr sz="1800">
                          <a:solidFill>
                            <a:srgbClr val="153347"/>
                          </a:solidFill>
                          <a:latin typeface="Sarabun"/>
                          <a:ea typeface="Sarabun"/>
                          <a:cs typeface="Sarabun"/>
                        </a:rPr>
                        <a:t>ระบบและการดูแลหลังใช้งาน</a:t>
                      </a:r>
                    </a:p>
                  </a:txBody>
                  <a:tcPr marL="171450" marR="171450" marT="123825" marB="1238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53347"/>
                          </a:solidFill>
                          <a:latin typeface="Sarabun"/>
                          <a:ea typeface="Sarabun"/>
                          <a:cs typeface="Sarabun"/>
                        </a:rPr>
                        <a:t>ลูกค้ามีปัญหาและยอมจ่าย</a:t>
                      </a:r>
                    </a:p>
                    <a:p>
                      <a:r>
                        <a:rPr sz="1800">
                          <a:solidFill>
                            <a:srgbClr val="153347"/>
                          </a:solidFill>
                          <a:latin typeface="Sarabun"/>
                          <a:ea typeface="Sarabun"/>
                          <a:cs typeface="Sarabun"/>
                        </a:rPr>
                        <a:t>ส่งมอบแล้วคุ้มค่า</a:t>
                      </a:r>
                    </a:p>
                  </a:txBody>
                  <a:tcPr marL="171450" marR="171450" marT="123825" marB="1238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GAM คือกรอบออกแบบจุดเชื่อมระบบพลังงาน  การขยายขึ้">
            <a:extLst xmlns:a="http://schemas.openxmlformats.org/drawingml/2006/main">
              <a:ext uri="{FF2B5EF4-FFF2-40B4-BE49-F238E27FC236}">
                <a16:creationId xmlns:a16="http://schemas.microsoft.com/office/drawing/2014/main" id="{8018E789-2458-4166-B402-0B22A8B56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817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27083"/>
                </a:solidFill>
                <a:latin typeface="Sarabun"/>
                <a:ea typeface="Sarabun"/>
                <a:cs typeface="Sarabun"/>
              </a:defRPr>
            </a:pPr>
            <a:r>
              <a:rPr sz="1725" b="0">
                <a:solidFill>
                  <a:srgbClr val="527083"/>
                </a:solidFill>
                <a:latin typeface="Sarabun"/>
                <a:ea typeface="Sarabun"/>
                <a:cs typeface="Sarabun"/>
              </a:rPr>
              <a:t>SGAM คือกรอบออกแบบจุดเชื่อมระบบพลังงาน  การขยายขึ้นกับความพร้อมและความคุ้มค่า</a:t>
            </a:r>
          </a:p>
        </p:txBody>
      </p:sp>
    </p:spTree>
    <p:extLst>
      <p:ext uri="{BB962C8B-B14F-4D97-AF65-F5344CB8AC3E}">
        <p14:creationId xmlns:p14="http://schemas.microsoft.com/office/powerpoint/2010/main" val="110432039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7806368c8f49ae"/>
          <a:stretch xmlns:a="http://schemas.openxmlformats.org/drawingml/2006/main"/>
        </p:blipFill>
        <p:spPr>
          <a:xfrm xmlns:a="http://schemas.openxmlformats.org/drawingml/2006/main">
            <a:off x="9810750" y="419109"/>
            <a:ext cx="1714500" cy="269921"/>
          </a:xfrm>
          <a:prstGeom xmlns:a="http://schemas.openxmlformats.org/drawingml/2006/main" prst="rect">
            <a:avLst/>
          </a:prstGeom>
        </p:spPr>
      </p:pic>
      <p:sp>
        <p:nvSpPr>
          <p:cNvPr id="2" name="หลักฐานจากโรงงานสู่บริการลูกค้า">
            <a:extLst xmlns:a="http://schemas.openxmlformats.org/drawingml/2006/main">
              <a:ext uri="{FF2B5EF4-FFF2-40B4-BE49-F238E27FC236}">
                <a16:creationId xmlns:a16="http://schemas.microsoft.com/office/drawing/2014/main" id="{794BA401-5ED3-4A0D-967F-64EFE68AC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53347"/>
                </a:solidFill>
                <a:latin typeface="Sarabun"/>
                <a:ea typeface="Sarabun"/>
                <a:cs typeface="Sarabun"/>
              </a:defRPr>
            </a:pPr>
            <a:r>
              <a:rPr sz="3300" b="1">
                <a:solidFill>
                  <a:srgbClr val="153347"/>
                </a:solidFill>
                <a:latin typeface="Sarabun"/>
                <a:ea typeface="Sarabun"/>
                <a:cs typeface="Sarabun"/>
              </a:rPr>
              <a:t>หลักฐานจากโรงงานสู่บริการลูกค้า</a:t>
            </a:r>
          </a:p>
        </p:txBody>
      </p:sp>
      <p:sp>
        <p:nvSpPr>
          <p:cNvPr id="3" name="PCC Forum   1 ตุลาคม 2569">
            <a:extLst xmlns:a="http://schemas.openxmlformats.org/drawingml/2006/main">
              <a:ext uri="{FF2B5EF4-FFF2-40B4-BE49-F238E27FC236}">
                <a16:creationId xmlns:a16="http://schemas.microsoft.com/office/drawing/2014/main" id="{03C275D4-C383-46E4-B594-F04C65742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7083"/>
                </a:solidFill>
                <a:latin typeface="Sarabun"/>
                <a:ea typeface="Sarabun"/>
                <a:cs typeface="Sarabun"/>
              </a:defRPr>
            </a:pPr>
            <a:r>
              <a:rPr sz="1275" b="0">
                <a:solidFill>
                  <a:srgbClr val="527083"/>
                </a:solidFill>
                <a:latin typeface="Sarabun"/>
                <a:ea typeface="Sarabun"/>
                <a:cs typeface="Sarabun"/>
              </a:rPr>
              <a:t>PCC Forum   1 ตุลาคม 2569</a:t>
            </a:r>
          </a:p>
        </p:txBody>
      </p:sp>
      <p:sp>
        <p:nvSpPr>
          <p:cNvPr id="4" name="11">
            <a:extLst xmlns:a="http://schemas.openxmlformats.org/drawingml/2006/main">
              <a:ext uri="{FF2B5EF4-FFF2-40B4-BE49-F238E27FC236}">
                <a16:creationId xmlns:a16="http://schemas.microsoft.com/office/drawing/2014/main" id="{B74F26E1-86BF-4FF8-9049-280D83B04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527083"/>
                </a:solidFill>
                <a:latin typeface="Sarabun"/>
                <a:ea typeface="Sarabun"/>
                <a:cs typeface="Sarabun"/>
              </a:defRPr>
            </a:pPr>
            <a:r>
              <a:rPr sz="1500" b="1">
                <a:solidFill>
                  <a:srgbClr val="527083"/>
                </a:solidFill>
                <a:latin typeface="Sarabun"/>
                <a:ea typeface="Sarabun"/>
                <a:cs typeface="Sarabun"/>
              </a:rPr>
              <a:t>11</a:t>
            </a:r>
          </a:p>
        </p:txBody>
      </p:sp>
      <p:sp>
        <p:nvSpPr>
          <p:cNvPr id="5" name="01">
            <a:extLst xmlns:a="http://schemas.openxmlformats.org/drawingml/2006/main">
              <a:ext uri="{FF2B5EF4-FFF2-40B4-BE49-F238E27FC236}">
                <a16:creationId xmlns:a16="http://schemas.microsoft.com/office/drawing/2014/main" id="{1143B032-13B7-45E9-A50A-9146DE8FF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2571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425" b="1">
                <a:solidFill>
                  <a:srgbClr val="009DDC"/>
                </a:solidFill>
                <a:latin typeface="Sarabun"/>
                <a:ea typeface="Sarabun"/>
                <a:cs typeface="Sarabun"/>
              </a:defRPr>
            </a:pPr>
            <a:r>
              <a:rPr sz="4425" b="1">
                <a:solidFill>
                  <a:srgbClr val="009DDC"/>
                </a:solidFill>
                <a:latin typeface="Sarabun"/>
                <a:ea typeface="Sarabun"/>
                <a:cs typeface="Sarabun"/>
              </a:rPr>
              <a:t>01</a:t>
            </a:r>
          </a:p>
        </p:txBody>
      </p:sp>
      <p:sp>
        <p:nvSpPr>
          <p:cNvPr id="6" name="พิสูจน์ใน PCC">
            <a:extLst xmlns:a="http://schemas.openxmlformats.org/drawingml/2006/main">
              <a:ext uri="{FF2B5EF4-FFF2-40B4-BE49-F238E27FC236}">
                <a16:creationId xmlns:a16="http://schemas.microsoft.com/office/drawing/2014/main" id="{FFAD068D-8B52-4E8F-8B91-C9A7F4C00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5150"/>
            <a:ext cx="2590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53347"/>
                </a:solidFill>
                <a:latin typeface="Sarabun"/>
                <a:ea typeface="Sarabun"/>
                <a:cs typeface="Sarabun"/>
              </a:defRPr>
            </a:pPr>
            <a:r>
              <a:rPr sz="2475" b="1">
                <a:solidFill>
                  <a:srgbClr val="153347"/>
                </a:solidFill>
                <a:latin typeface="Sarabun"/>
                <a:ea typeface="Sarabun"/>
                <a:cs typeface="Sarabun"/>
              </a:rPr>
              <a:t>พิสูจน์ใน PCC</a:t>
            </a:r>
          </a:p>
        </p:txBody>
      </p:sp>
      <p:sp>
        <p:nvSpPr>
          <p:cNvPr id="7" name="ผลดีต่อการผลิต&#10;และพลังงานจริง">
            <a:extLst xmlns:a="http://schemas.openxmlformats.org/drawingml/2006/main">
              <a:ext uri="{FF2B5EF4-FFF2-40B4-BE49-F238E27FC236}">
                <a16:creationId xmlns:a16="http://schemas.microsoft.com/office/drawing/2014/main" id="{0A8FBA1C-A9AB-4EB2-8D1A-9C4475EC0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95725"/>
            <a:ext cx="2571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27083"/>
                </a:solidFill>
                <a:latin typeface="Sarabun"/>
                <a:ea typeface="Sarabun"/>
                <a:cs typeface="Sarabun"/>
              </a:defRPr>
            </a:pPr>
            <a:r>
              <a:rPr sz="2100" b="0">
                <a:solidFill>
                  <a:srgbClr val="527083"/>
                </a:solidFill>
                <a:latin typeface="Sarabun"/>
                <a:ea typeface="Sarabun"/>
                <a:cs typeface="Sarabun"/>
              </a:rPr>
              <a:t>ผลดีต่อการผลิต</a:t>
            </a:r>
          </a:p>
          <a:p xmlns:a="http://schemas.openxmlformats.org/drawingml/2006/main">
            <a:pPr algn="l">
              <a:defRPr sz="2100" b="0">
                <a:solidFill>
                  <a:srgbClr val="527083"/>
                </a:solidFill>
                <a:latin typeface="Sarabun"/>
                <a:ea typeface="Sarabun"/>
                <a:cs typeface="Sarabun"/>
              </a:defRPr>
            </a:pPr>
            <a:r>
              <a:rPr sz="2100" b="0">
                <a:solidFill>
                  <a:srgbClr val="527083"/>
                </a:solidFill>
                <a:latin typeface="Sarabun"/>
                <a:ea typeface="Sarabun"/>
                <a:cs typeface="Sarabun"/>
              </a:rPr>
              <a:t>และพลังงานจริง</a:t>
            </a:r>
          </a:p>
        </p:txBody>
      </p:sp>
      <p:sp>
        <p:nvSpPr>
          <p:cNvPr id="8" name="02">
            <a:extLst xmlns:a="http://schemas.openxmlformats.org/drawingml/2006/main">
              <a:ext uri="{FF2B5EF4-FFF2-40B4-BE49-F238E27FC236}">
                <a16:creationId xmlns:a16="http://schemas.microsoft.com/office/drawing/2014/main" id="{EE11863F-424F-4687-BF03-3C738B8CE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190750"/>
            <a:ext cx="2571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425" b="1">
                <a:solidFill>
                  <a:srgbClr val="50B948"/>
                </a:solidFill>
                <a:latin typeface="Sarabun"/>
                <a:ea typeface="Sarabun"/>
                <a:cs typeface="Sarabun"/>
              </a:defRPr>
            </a:pPr>
            <a:r>
              <a:rPr sz="4425" b="1">
                <a:solidFill>
                  <a:srgbClr val="50B948"/>
                </a:solidFill>
                <a:latin typeface="Sarabun"/>
                <a:ea typeface="Sarabun"/>
                <a:cs typeface="Sarabun"/>
              </a:rPr>
              <a:t>02</a:t>
            </a:r>
          </a:p>
        </p:txBody>
      </p:sp>
      <p:sp>
        <p:nvSpPr>
          <p:cNvPr id="9" name="ทำซ้ำข้ามไลน์">
            <a:extLst xmlns:a="http://schemas.openxmlformats.org/drawingml/2006/main">
              <a:ext uri="{FF2B5EF4-FFF2-40B4-BE49-F238E27FC236}">
                <a16:creationId xmlns:a16="http://schemas.microsoft.com/office/drawing/2014/main" id="{E9875684-BF35-4F04-BE2E-6646F145D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105150"/>
            <a:ext cx="2590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53347"/>
                </a:solidFill>
                <a:latin typeface="Sarabun"/>
                <a:ea typeface="Sarabun"/>
                <a:cs typeface="Sarabun"/>
              </a:defRPr>
            </a:pPr>
            <a:r>
              <a:rPr sz="2475" b="1">
                <a:solidFill>
                  <a:srgbClr val="153347"/>
                </a:solidFill>
                <a:latin typeface="Sarabun"/>
                <a:ea typeface="Sarabun"/>
                <a:cs typeface="Sarabun"/>
              </a:rPr>
              <a:t>ทำซ้ำข้ามไลน์</a:t>
            </a:r>
          </a:p>
        </p:txBody>
      </p:sp>
      <p:sp>
        <p:nvSpPr>
          <p:cNvPr id="10" name="วิธีปรับใช้ได้&#10;โดยรู้ข้อจำกัด">
            <a:extLst xmlns:a="http://schemas.openxmlformats.org/drawingml/2006/main">
              <a:ext uri="{FF2B5EF4-FFF2-40B4-BE49-F238E27FC236}">
                <a16:creationId xmlns:a16="http://schemas.microsoft.com/office/drawing/2014/main" id="{393EBECA-3B99-4F4E-B9B9-9FC445062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895725"/>
            <a:ext cx="2571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27083"/>
                </a:solidFill>
                <a:latin typeface="Sarabun"/>
                <a:ea typeface="Sarabun"/>
                <a:cs typeface="Sarabun"/>
              </a:defRPr>
            </a:pPr>
            <a:r>
              <a:rPr sz="2100" b="0">
                <a:solidFill>
                  <a:srgbClr val="527083"/>
                </a:solidFill>
                <a:latin typeface="Sarabun"/>
                <a:ea typeface="Sarabun"/>
                <a:cs typeface="Sarabun"/>
              </a:rPr>
              <a:t>วิธีปรับใช้ได้</a:t>
            </a:r>
          </a:p>
          <a:p xmlns:a="http://schemas.openxmlformats.org/drawingml/2006/main">
            <a:pPr algn="l">
              <a:defRPr sz="2100" b="0">
                <a:solidFill>
                  <a:srgbClr val="527083"/>
                </a:solidFill>
                <a:latin typeface="Sarabun"/>
                <a:ea typeface="Sarabun"/>
                <a:cs typeface="Sarabun"/>
              </a:defRPr>
            </a:pPr>
            <a:r>
              <a:rPr sz="2100" b="0">
                <a:solidFill>
                  <a:srgbClr val="527083"/>
                </a:solidFill>
                <a:latin typeface="Sarabun"/>
                <a:ea typeface="Sarabun"/>
                <a:cs typeface="Sarabun"/>
              </a:rPr>
              <a:t>โดยรู้ข้อจำกัด</a:t>
            </a:r>
          </a:p>
        </p:txBody>
      </p:sp>
      <p:sp>
        <p:nvSpPr>
          <p:cNvPr id="11" name="03">
            <a:extLst xmlns:a="http://schemas.openxmlformats.org/drawingml/2006/main">
              <a:ext uri="{FF2B5EF4-FFF2-40B4-BE49-F238E27FC236}">
                <a16:creationId xmlns:a16="http://schemas.microsoft.com/office/drawing/2014/main" id="{CFD8BDFD-F585-456D-B905-86007087B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190750"/>
            <a:ext cx="2571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425" b="1">
                <a:solidFill>
                  <a:srgbClr val="EA7F1E"/>
                </a:solidFill>
                <a:latin typeface="Sarabun"/>
                <a:ea typeface="Sarabun"/>
                <a:cs typeface="Sarabun"/>
              </a:defRPr>
            </a:pPr>
            <a:r>
              <a:rPr sz="4425" b="1">
                <a:solidFill>
                  <a:srgbClr val="EA7F1E"/>
                </a:solidFill>
                <a:latin typeface="Sarabun"/>
                <a:ea typeface="Sarabun"/>
                <a:cs typeface="Sarabun"/>
              </a:rPr>
              <a:t>03</a:t>
            </a:r>
          </a:p>
        </p:txBody>
      </p:sp>
      <p:sp>
        <p:nvSpPr>
          <p:cNvPr id="12" name="ทดลองกับลูกค้า">
            <a:extLst xmlns:a="http://schemas.openxmlformats.org/drawingml/2006/main">
              <a:ext uri="{FF2B5EF4-FFF2-40B4-BE49-F238E27FC236}">
                <a16:creationId xmlns:a16="http://schemas.microsoft.com/office/drawing/2014/main" id="{4C6E8173-4F25-4541-B484-5D2B90754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105150"/>
            <a:ext cx="2590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53347"/>
                </a:solidFill>
                <a:latin typeface="Sarabun"/>
                <a:ea typeface="Sarabun"/>
                <a:cs typeface="Sarabun"/>
              </a:defRPr>
            </a:pPr>
            <a:r>
              <a:rPr sz="2475" b="1">
                <a:solidFill>
                  <a:srgbClr val="153347"/>
                </a:solidFill>
                <a:latin typeface="Sarabun"/>
                <a:ea typeface="Sarabun"/>
                <a:cs typeface="Sarabun"/>
              </a:rPr>
              <a:t>ทดลองกับลูกค้า</a:t>
            </a:r>
          </a:p>
        </p:txBody>
      </p:sp>
      <p:sp>
        <p:nvSpPr>
          <p:cNvPr id="13" name="ปัญหาตรงกัน&#10;และลูกค้าเห็นคุณค่า">
            <a:extLst xmlns:a="http://schemas.openxmlformats.org/drawingml/2006/main">
              <a:ext uri="{FF2B5EF4-FFF2-40B4-BE49-F238E27FC236}">
                <a16:creationId xmlns:a16="http://schemas.microsoft.com/office/drawing/2014/main" id="{6329D791-7C32-4832-B4D8-A59B6145A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895725"/>
            <a:ext cx="2571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27083"/>
                </a:solidFill>
                <a:latin typeface="Sarabun"/>
                <a:ea typeface="Sarabun"/>
                <a:cs typeface="Sarabun"/>
              </a:defRPr>
            </a:pPr>
            <a:r>
              <a:rPr sz="2100" b="0">
                <a:solidFill>
                  <a:srgbClr val="527083"/>
                </a:solidFill>
                <a:latin typeface="Sarabun"/>
                <a:ea typeface="Sarabun"/>
                <a:cs typeface="Sarabun"/>
              </a:rPr>
              <a:t>ปัญหาตรงกัน</a:t>
            </a:r>
          </a:p>
          <a:p xmlns:a="http://schemas.openxmlformats.org/drawingml/2006/main">
            <a:pPr algn="l">
              <a:defRPr sz="2100" b="0">
                <a:solidFill>
                  <a:srgbClr val="527083"/>
                </a:solidFill>
                <a:latin typeface="Sarabun"/>
                <a:ea typeface="Sarabun"/>
                <a:cs typeface="Sarabun"/>
              </a:defRPr>
            </a:pPr>
            <a:r>
              <a:rPr sz="2100" b="0">
                <a:solidFill>
                  <a:srgbClr val="527083"/>
                </a:solidFill>
                <a:latin typeface="Sarabun"/>
                <a:ea typeface="Sarabun"/>
                <a:cs typeface="Sarabun"/>
              </a:rPr>
              <a:t>และลูกค้าเห็นคุณค่า</a:t>
            </a:r>
          </a:p>
        </p:txBody>
      </p:sp>
      <p:sp>
        <p:nvSpPr>
          <p:cNvPr id="14" name="04">
            <a:extLst xmlns:a="http://schemas.openxmlformats.org/drawingml/2006/main">
              <a:ext uri="{FF2B5EF4-FFF2-40B4-BE49-F238E27FC236}">
                <a16:creationId xmlns:a16="http://schemas.microsoft.com/office/drawing/2014/main" id="{5D7A950A-DF45-463D-9A5A-5CBA689FF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190750"/>
            <a:ext cx="2571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425" b="1">
                <a:solidFill>
                  <a:srgbClr val="009DDC"/>
                </a:solidFill>
                <a:latin typeface="Sarabun"/>
                <a:ea typeface="Sarabun"/>
                <a:cs typeface="Sarabun"/>
              </a:defRPr>
            </a:pPr>
            <a:r>
              <a:rPr sz="4425" b="1">
                <a:solidFill>
                  <a:srgbClr val="009DDC"/>
                </a:solidFill>
                <a:latin typeface="Sarabun"/>
                <a:ea typeface="Sarabun"/>
                <a:cs typeface="Sarabun"/>
              </a:rPr>
              <a:t>04</a:t>
            </a:r>
          </a:p>
        </p:txBody>
      </p:sp>
      <p:sp>
        <p:nvSpPr>
          <p:cNvPr id="15" name="ขยายตลาด">
            <a:extLst xmlns:a="http://schemas.openxmlformats.org/drawingml/2006/main">
              <a:ext uri="{FF2B5EF4-FFF2-40B4-BE49-F238E27FC236}">
                <a16:creationId xmlns:a16="http://schemas.microsoft.com/office/drawing/2014/main" id="{19B3D8BB-2272-445A-8B94-5DC475189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3105150"/>
            <a:ext cx="2590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53347"/>
                </a:solidFill>
                <a:latin typeface="Sarabun"/>
                <a:ea typeface="Sarabun"/>
                <a:cs typeface="Sarabun"/>
              </a:defRPr>
            </a:pPr>
            <a:r>
              <a:rPr sz="2475" b="1">
                <a:solidFill>
                  <a:srgbClr val="153347"/>
                </a:solidFill>
                <a:latin typeface="Sarabun"/>
                <a:ea typeface="Sarabun"/>
                <a:cs typeface="Sarabun"/>
              </a:rPr>
              <a:t>ขยายตลาด</a:t>
            </a:r>
          </a:p>
        </p:txBody>
      </p:sp>
      <p:sp>
        <p:nvSpPr>
          <p:cNvPr id="16" name="ส่งมอบคุ้มค่า&#10;ดูแลหลังใช้งานได้">
            <a:extLst xmlns:a="http://schemas.openxmlformats.org/drawingml/2006/main">
              <a:ext uri="{FF2B5EF4-FFF2-40B4-BE49-F238E27FC236}">
                <a16:creationId xmlns:a16="http://schemas.microsoft.com/office/drawing/2014/main" id="{76C67033-4214-4641-9771-89FD6A834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3895725"/>
            <a:ext cx="2571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27083"/>
                </a:solidFill>
                <a:latin typeface="Sarabun"/>
                <a:ea typeface="Sarabun"/>
                <a:cs typeface="Sarabun"/>
              </a:defRPr>
            </a:pPr>
            <a:r>
              <a:rPr sz="2100" b="0">
                <a:solidFill>
                  <a:srgbClr val="527083"/>
                </a:solidFill>
                <a:latin typeface="Sarabun"/>
                <a:ea typeface="Sarabun"/>
                <a:cs typeface="Sarabun"/>
              </a:rPr>
              <a:t>ส่งมอบคุ้มค่า</a:t>
            </a:r>
          </a:p>
          <a:p xmlns:a="http://schemas.openxmlformats.org/drawingml/2006/main">
            <a:pPr algn="l">
              <a:defRPr sz="2100" b="0">
                <a:solidFill>
                  <a:srgbClr val="527083"/>
                </a:solidFill>
                <a:latin typeface="Sarabun"/>
                <a:ea typeface="Sarabun"/>
                <a:cs typeface="Sarabun"/>
              </a:defRPr>
            </a:pPr>
            <a:r>
              <a:rPr sz="2100" b="0">
                <a:solidFill>
                  <a:srgbClr val="527083"/>
                </a:solidFill>
                <a:latin typeface="Sarabun"/>
                <a:ea typeface="Sarabun"/>
                <a:cs typeface="Sarabun"/>
              </a:rPr>
              <a:t>ดูแลหลังใช้งานได้</a:t>
            </a:r>
          </a:p>
        </p:txBody>
      </p:sp>
      <p:sp>
        <p:nvSpPr>
          <p:cNvPr id="17" name="ประสบการณ์ของ Business ช่วยสร้างข้อเสนอที่น่าเชื่อ">
            <a:extLst xmlns:a="http://schemas.openxmlformats.org/drawingml/2006/main">
              <a:ext uri="{FF2B5EF4-FFF2-40B4-BE49-F238E27FC236}">
                <a16:creationId xmlns:a16="http://schemas.microsoft.com/office/drawing/2014/main" id="{8FE16D95-2397-4784-B305-5F4CCE282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57825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09DDC"/>
                </a:solidFill>
                <a:latin typeface="Sarabun"/>
                <a:ea typeface="Sarabun"/>
                <a:cs typeface="Sarabun"/>
              </a:defRPr>
            </a:pPr>
            <a:r>
              <a:rPr sz="2475" b="1">
                <a:solidFill>
                  <a:srgbClr val="009DDC"/>
                </a:solidFill>
                <a:latin typeface="Sarabun"/>
                <a:ea typeface="Sarabun"/>
                <a:cs typeface="Sarabun"/>
              </a:rPr>
              <a:t>ประสบการณ์ของ Business ช่วยสร้างข้อเสนอที่น่าเชื่อถือให้ลูกค้า</a:t>
            </a:r>
          </a:p>
        </p:txBody>
      </p:sp>
    </p:spTree>
    <p:extLst>
      <p:ext uri="{BB962C8B-B14F-4D97-AF65-F5344CB8AC3E}">
        <p14:creationId xmlns:p14="http://schemas.microsoft.com/office/powerpoint/2010/main" val="39566420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PCC Forum   1 ตุลาคม 2569">
            <a:extLst xmlns:a="http://schemas.openxmlformats.org/drawingml/2006/main">
              <a:ext uri="{FF2B5EF4-FFF2-40B4-BE49-F238E27FC236}">
                <a16:creationId xmlns:a16="http://schemas.microsoft.com/office/drawing/2014/main" id="{DEB79611-C23D-4E77-A1F8-AB9492C4A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7083"/>
                </a:solidFill>
                <a:latin typeface="Sarabun"/>
                <a:ea typeface="Sarabun"/>
                <a:cs typeface="Sarabun"/>
              </a:defRPr>
            </a:pPr>
            <a:r>
              <a:rPr sz="1275" b="0">
                <a:solidFill>
                  <a:srgbClr val="527083"/>
                </a:solidFill>
                <a:latin typeface="Sarabun"/>
                <a:ea typeface="Sarabun"/>
                <a:cs typeface="Sarabun"/>
              </a:rPr>
              <a:t>PCC Forum   1 ตุลาคม 2569</a:t>
            </a:r>
          </a:p>
        </p:txBody>
      </p:sp>
      <p:sp>
        <p:nvSpPr>
          <p:cNvPr id="2" name="12">
            <a:extLst xmlns:a="http://schemas.openxmlformats.org/drawingml/2006/main">
              <a:ext uri="{FF2B5EF4-FFF2-40B4-BE49-F238E27FC236}">
                <a16:creationId xmlns:a16="http://schemas.microsoft.com/office/drawing/2014/main" id="{07A86CB0-6BCD-47CF-931C-ED09FCA70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527083"/>
                </a:solidFill>
                <a:latin typeface="Sarabun"/>
                <a:ea typeface="Sarabun"/>
                <a:cs typeface="Sarabun"/>
              </a:defRPr>
            </a:pPr>
            <a:r>
              <a:rPr sz="1500" b="1">
                <a:solidFill>
                  <a:srgbClr val="527083"/>
                </a:solidFill>
                <a:latin typeface="Sarabun"/>
                <a:ea typeface="Sarabun"/>
                <a:cs typeface="Sarabun"/>
              </a:rPr>
              <a:t>12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1273ce33eb4d15"/>
          <a:stretch xmlns:a="http://schemas.openxmlformats.org/drawingml/2006/main"/>
        </p:blipFill>
        <p:spPr>
          <a:xfrm xmlns:a="http://schemas.openxmlformats.org/drawingml/2006/main">
            <a:off x="628650" y="1705814"/>
            <a:ext cx="2562225" cy="1998572"/>
          </a:xfrm>
          <a:prstGeom xmlns:a="http://schemas.openxmlformats.org/drawingml/2006/main" prst="rect">
            <a:avLst/>
          </a:prstGeom>
        </p:spPr>
      </p:pic>
      <p:sp>
        <p:nvSpPr>
          <p:cNvPr id="4" name="มาเริ่มที่ธุรกิจเราก่อน">
            <a:extLst xmlns:a="http://schemas.openxmlformats.org/drawingml/2006/main">
              <a:ext uri="{FF2B5EF4-FFF2-40B4-BE49-F238E27FC236}">
                <a16:creationId xmlns:a16="http://schemas.microsoft.com/office/drawing/2014/main" id="{F8E99B4A-4C76-4B6D-A9E9-A603F198B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638300"/>
            <a:ext cx="78105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125" b="1">
                <a:solidFill>
                  <a:srgbClr val="009DDC"/>
                </a:solidFill>
                <a:latin typeface="Sarabun"/>
                <a:ea typeface="Sarabun"/>
                <a:cs typeface="Sarabun"/>
              </a:defRPr>
            </a:pPr>
            <a:r>
              <a:rPr sz="4125" b="1">
                <a:solidFill>
                  <a:srgbClr val="009DDC"/>
                </a:solidFill>
                <a:latin typeface="Sarabun"/>
                <a:ea typeface="Sarabun"/>
                <a:cs typeface="Sarabun"/>
              </a:rPr>
              <a:t>มาเริ่มที่ธุรกิจเราก่อน</a:t>
            </a:r>
          </a:p>
        </p:txBody>
      </p:sp>
      <p:sp>
        <p:nvSpPr>
          <p:cNvPr id="5" name="ถ้าเลือกหนึ่งไลน์ จะเป็นไลน์ไหนของเรา">
            <a:extLst xmlns:a="http://schemas.openxmlformats.org/drawingml/2006/main">
              <a:ext uri="{FF2B5EF4-FFF2-40B4-BE49-F238E27FC236}">
                <a16:creationId xmlns:a16="http://schemas.microsoft.com/office/drawing/2014/main" id="{52E996A5-AA79-44E5-B133-946686D04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667000"/>
            <a:ext cx="781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3347"/>
                </a:solidFill>
                <a:latin typeface="Sarabun"/>
                <a:ea typeface="Sarabun"/>
                <a:cs typeface="Sarabun"/>
              </a:defRPr>
            </a:pPr>
            <a:r>
              <a:rPr sz="2550" b="1">
                <a:solidFill>
                  <a:srgbClr val="153347"/>
                </a:solidFill>
                <a:latin typeface="Sarabun"/>
                <a:ea typeface="Sarabun"/>
                <a:cs typeface="Sarabun"/>
              </a:rPr>
              <a:t>ถ้าเลือกหนึ่งไลน์ จะเป็นไลน์ไหนของเรา</a:t>
            </a:r>
          </a:p>
        </p:txBody>
      </p:sp>
      <p:sp>
        <p:nvSpPr>
          <p:cNvPr id="6" name="01   หนึ่งโจทย์ที่อยากแก้&#10;02   คนที่พร้อมลงแรง&#10;03 ">
            <a:extLst xmlns:a="http://schemas.openxmlformats.org/drawingml/2006/main">
              <a:ext uri="{FF2B5EF4-FFF2-40B4-BE49-F238E27FC236}">
                <a16:creationId xmlns:a16="http://schemas.microsoft.com/office/drawing/2014/main" id="{8BCC13E5-58C4-45E8-905C-F2E310016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571875"/>
            <a:ext cx="77533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153347"/>
                </a:solidFill>
                <a:latin typeface="Sarabun"/>
                <a:ea typeface="Sarabun"/>
                <a:cs typeface="Sarabun"/>
              </a:defRPr>
            </a:pPr>
            <a:r>
              <a:rPr sz="2325" b="0">
                <a:solidFill>
                  <a:srgbClr val="153347"/>
                </a:solidFill>
                <a:latin typeface="Sarabun"/>
                <a:ea typeface="Sarabun"/>
                <a:cs typeface="Sarabun"/>
              </a:rPr>
              <a:t>01   หนึ่งโจทย์ที่อยากแก้</a:t>
            </a:r>
          </a:p>
          <a:p xmlns:a="http://schemas.openxmlformats.org/drawingml/2006/main">
            <a:pPr algn="l">
              <a:defRPr sz="2325" b="0">
                <a:solidFill>
                  <a:srgbClr val="153347"/>
                </a:solidFill>
                <a:latin typeface="Sarabun"/>
                <a:ea typeface="Sarabun"/>
                <a:cs typeface="Sarabun"/>
              </a:defRPr>
            </a:pPr>
            <a:r>
              <a:rPr sz="2325" b="0">
                <a:solidFill>
                  <a:srgbClr val="153347"/>
                </a:solidFill>
                <a:latin typeface="Sarabun"/>
                <a:ea typeface="Sarabun"/>
                <a:cs typeface="Sarabun"/>
              </a:rPr>
              <a:t>02   คนที่พร้อมลงแรง</a:t>
            </a:r>
          </a:p>
          <a:p xmlns:a="http://schemas.openxmlformats.org/drawingml/2006/main">
            <a:pPr algn="l">
              <a:defRPr sz="2325" b="0">
                <a:solidFill>
                  <a:srgbClr val="153347"/>
                </a:solidFill>
                <a:latin typeface="Sarabun"/>
                <a:ea typeface="Sarabun"/>
                <a:cs typeface="Sarabun"/>
              </a:defRPr>
            </a:pPr>
            <a:r>
              <a:rPr sz="2325" b="0">
                <a:solidFill>
                  <a:srgbClr val="153347"/>
                </a:solidFill>
                <a:latin typeface="Sarabun"/>
                <a:ea typeface="Sarabun"/>
                <a:cs typeface="Sarabun"/>
              </a:rPr>
              <a:t>03   ข้อมูลที่มีอยู่แล้ว</a:t>
            </a:r>
          </a:p>
        </p:txBody>
      </p:sp>
      <p:sp>
        <p:nvSpPr>
          <p:cNvPr id="7" name="คุยกับทีม Factory 4.0–ESG หลัง Forum&#10;เพื่อสำรวจควา">
            <a:extLst xmlns:a="http://schemas.openxmlformats.org/drawingml/2006/main">
              <a:ext uri="{FF2B5EF4-FFF2-40B4-BE49-F238E27FC236}">
                <a16:creationId xmlns:a16="http://schemas.microsoft.com/office/drawing/2014/main" id="{9360CA64-F418-47BB-9F26-9F743C848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372100"/>
            <a:ext cx="7715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27083"/>
                </a:solidFill>
                <a:latin typeface="Sarabun"/>
                <a:ea typeface="Sarabun"/>
                <a:cs typeface="Sarabun"/>
              </a:defRPr>
            </a:pPr>
            <a:r>
              <a:rPr sz="2025" b="0">
                <a:solidFill>
                  <a:srgbClr val="527083"/>
                </a:solidFill>
                <a:latin typeface="Sarabun"/>
                <a:ea typeface="Sarabun"/>
                <a:cs typeface="Sarabun"/>
              </a:rPr>
              <a:t>คุยกับทีม Factory 4.0–ESG หลัง Forum</a:t>
            </a:r>
          </a:p>
          <a:p xmlns:a="http://schemas.openxmlformats.org/drawingml/2006/main">
            <a:pPr algn="l">
              <a:defRPr sz="2025" b="0">
                <a:solidFill>
                  <a:srgbClr val="527083"/>
                </a:solidFill>
                <a:latin typeface="Sarabun"/>
                <a:ea typeface="Sarabun"/>
                <a:cs typeface="Sarabun"/>
              </a:defRPr>
            </a:pPr>
            <a:r>
              <a:rPr sz="2025" b="0">
                <a:solidFill>
                  <a:srgbClr val="527083"/>
                </a:solidFill>
                <a:latin typeface="Sarabun"/>
                <a:ea typeface="Sarabun"/>
                <a:cs typeface="Sarabun"/>
              </a:rPr>
              <a:t>เพื่อสำรวจความเหมาะสมของจุดเริ่มต้นร่วมกัน</a:t>
            </a:r>
          </a:p>
        </p:txBody>
      </p:sp>
    </p:spTree>
    <p:extLst>
      <p:ext uri="{BB962C8B-B14F-4D97-AF65-F5344CB8AC3E}">
        <p14:creationId xmlns:p14="http://schemas.microsoft.com/office/powerpoint/2010/main" val="47188776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bca3d24b674e1e"/>
          <a:stretch xmlns:a="http://schemas.openxmlformats.org/drawingml/2006/main"/>
        </p:blipFill>
        <p:spPr>
          <a:xfrm xmlns:a="http://schemas.openxmlformats.org/drawingml/2006/main">
            <a:off x="9810750" y="419109"/>
            <a:ext cx="1714500" cy="269921"/>
          </a:xfrm>
          <a:prstGeom xmlns:a="http://schemas.openxmlformats.org/drawingml/2006/main" prst="rect">
            <a:avLst/>
          </a:prstGeom>
        </p:spPr>
      </p:pic>
      <p:sp>
        <p:nvSpPr>
          <p:cNvPr id="2" name="RAMI 4.0 กับขอบเขต Pilot">
            <a:extLst xmlns:a="http://schemas.openxmlformats.org/drawingml/2006/main">
              <a:ext uri="{FF2B5EF4-FFF2-40B4-BE49-F238E27FC236}">
                <a16:creationId xmlns:a16="http://schemas.microsoft.com/office/drawing/2014/main" id="{A6C72331-88B4-4549-858B-D592C81D1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53347"/>
                </a:solidFill>
                <a:latin typeface="Sarabun"/>
                <a:ea typeface="Sarabun"/>
                <a:cs typeface="Sarabun"/>
              </a:defRPr>
            </a:pPr>
            <a:r>
              <a:rPr sz="3300" b="1">
                <a:solidFill>
                  <a:srgbClr val="153347"/>
                </a:solidFill>
                <a:latin typeface="Sarabun"/>
                <a:ea typeface="Sarabun"/>
                <a:cs typeface="Sarabun"/>
              </a:rPr>
              <a:t>RAMI 4.0 กับขอบเขต Pilot</a:t>
            </a:r>
          </a:p>
        </p:txBody>
      </p:sp>
      <p:sp>
        <p:nvSpPr>
          <p:cNvPr id="3" name="ภาคผนวกสำหรับตอบคำถาม">
            <a:extLst xmlns:a="http://schemas.openxmlformats.org/drawingml/2006/main">
              <a:ext uri="{FF2B5EF4-FFF2-40B4-BE49-F238E27FC236}">
                <a16:creationId xmlns:a16="http://schemas.microsoft.com/office/drawing/2014/main" id="{21D89359-9D51-40BE-A304-D51169C1C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7083"/>
                </a:solidFill>
                <a:latin typeface="Sarabun"/>
                <a:ea typeface="Sarabun"/>
                <a:cs typeface="Sarabun"/>
              </a:defRPr>
            </a:pPr>
            <a:r>
              <a:rPr sz="1275" b="0">
                <a:solidFill>
                  <a:srgbClr val="527083"/>
                </a:solidFill>
                <a:latin typeface="Sarabun"/>
                <a:ea typeface="Sarabun"/>
                <a:cs typeface="Sarabun"/>
              </a:rPr>
              <a:t>ภาคผนวกสำหรับตอบคำถาม</a:t>
            </a:r>
          </a:p>
        </p:txBody>
      </p:sp>
      <p:sp>
        <p:nvSpPr>
          <p:cNvPr id="4" name="13">
            <a:extLst xmlns:a="http://schemas.openxmlformats.org/drawingml/2006/main">
              <a:ext uri="{FF2B5EF4-FFF2-40B4-BE49-F238E27FC236}">
                <a16:creationId xmlns:a16="http://schemas.microsoft.com/office/drawing/2014/main" id="{38EFE5AB-16C1-4300-94A7-8B7F19C6A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527083"/>
                </a:solidFill>
                <a:latin typeface="Sarabun"/>
                <a:ea typeface="Sarabun"/>
                <a:cs typeface="Sarabun"/>
              </a:defRPr>
            </a:pPr>
            <a:r>
              <a:rPr sz="1500" b="1">
                <a:solidFill>
                  <a:srgbClr val="527083"/>
                </a:solidFill>
                <a:latin typeface="Sarabun"/>
                <a:ea typeface="Sarabun"/>
                <a:cs typeface="Sarabun"/>
              </a:rPr>
              <a:t>13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431168a75f487b"/>
          <a:stretch xmlns:a="http://schemas.openxmlformats.org/drawingml/2006/main"/>
        </p:blipFill>
        <p:spPr>
          <a:xfrm xmlns:a="http://schemas.openxmlformats.org/drawingml/2006/main">
            <a:off x="552450" y="2190750"/>
            <a:ext cx="5314950" cy="2657475"/>
          </a:xfrm>
          <a:prstGeom xmlns:a="http://schemas.openxmlformats.org/drawingml/2006/main" prst="rect">
            <a:avLst/>
          </a:prstGeom>
        </p:spPr>
      </p:pic>
      <p:graphicFrame>
        <p:nvGraphicFramePr>
          <p:cNvPr id="14" name=""/>
          <p:cNvGraphicFramePr/>
          <p:nvPr/>
        </p:nvGraphicFramePr>
        <p:xfrm>
          <a:off xmlns:a="http://schemas.openxmlformats.org/drawingml/2006/main" x="5867400" y="1752600"/>
          <a:ext xmlns:a="http://schemas.openxmlformats.org/drawingml/2006/main" cx="5715000" cy="3543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52625"/>
                <a:gridCol w="3762375"/>
              </a:tblGrid>
              <a:tr h="5905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53347"/>
                          </a:solidFill>
                          <a:latin typeface="Sarabun"/>
                          <a:ea typeface="Sarabun"/>
                          <a:cs typeface="Sarabun"/>
                        </a:rPr>
                        <a:t>Business</a:t>
                      </a:r>
                    </a:p>
                  </a:txBody>
                  <a:tcPr marL="171450" marR="171450" marT="123825" marB="123825" anchor="ctr">
                    <a:solidFill>
                      <a:srgbClr val="EE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53347"/>
                          </a:solidFill>
                          <a:latin typeface="Sarabun"/>
                          <a:ea typeface="Sarabun"/>
                          <a:cs typeface="Sarabun"/>
                        </a:rPr>
                        <a:t>เป้าหมาย ผู้รับผิดชอบ และกติกา</a:t>
                      </a:r>
                    </a:p>
                  </a:txBody>
                  <a:tcPr marL="171450" marR="171450" marT="123825" marB="123825" anchor="ctr"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53347"/>
                          </a:solidFill>
                          <a:latin typeface="Sarabun"/>
                          <a:ea typeface="Sarabun"/>
                          <a:cs typeface="Sarabun"/>
                        </a:rPr>
                        <a:t>Functional</a:t>
                      </a:r>
                    </a:p>
                  </a:txBody>
                  <a:tcPr marL="171450" marR="171450" marT="123825" marB="123825" anchor="ctr">
                    <a:solidFill>
                      <a:srgbClr val="EE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53347"/>
                          </a:solidFill>
                          <a:latin typeface="Sarabun"/>
                          <a:ea typeface="Sarabun"/>
                          <a:cs typeface="Sarabun"/>
                        </a:rPr>
                        <a:t>วิเคราะห์และสนับสนุนการปรับงาน</a:t>
                      </a:r>
                    </a:p>
                  </a:txBody>
                  <a:tcPr marL="171450" marR="171450" marT="123825" marB="123825" anchor="ctr"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53347"/>
                          </a:solidFill>
                          <a:latin typeface="Sarabun"/>
                          <a:ea typeface="Sarabun"/>
                          <a:cs typeface="Sarabun"/>
                        </a:rPr>
                        <a:t>Information</a:t>
                      </a:r>
                    </a:p>
                  </a:txBody>
                  <a:tcPr marL="171450" marR="171450" marT="123825" marB="123825" anchor="ctr">
                    <a:solidFill>
                      <a:srgbClr val="EE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53347"/>
                          </a:solidFill>
                          <a:latin typeface="Sarabun"/>
                          <a:ea typeface="Sarabun"/>
                          <a:cs typeface="Sarabun"/>
                        </a:rPr>
                        <a:t>ข้อมูลที่มีนิยามและหน่วยตรงกัน</a:t>
                      </a:r>
                    </a:p>
                  </a:txBody>
                  <a:tcPr marL="171450" marR="171450" marT="123825" marB="123825" anchor="ctr"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53347"/>
                          </a:solidFill>
                          <a:latin typeface="Sarabun"/>
                          <a:ea typeface="Sarabun"/>
                          <a:cs typeface="Sarabun"/>
                        </a:rPr>
                        <a:t>Communication</a:t>
                      </a:r>
                    </a:p>
                  </a:txBody>
                  <a:tcPr marL="171450" marR="171450" marT="123825" marB="123825" anchor="ctr">
                    <a:solidFill>
                      <a:srgbClr val="EE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53347"/>
                          </a:solidFill>
                          <a:latin typeface="Sarabun"/>
                          <a:ea typeface="Sarabun"/>
                          <a:cs typeface="Sarabun"/>
                        </a:rPr>
                        <a:t>ช่องทางส่งข้อมูลระหว่างระบบ</a:t>
                      </a:r>
                    </a:p>
                  </a:txBody>
                  <a:tcPr marL="171450" marR="171450" marT="123825" marB="123825" anchor="ctr"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53347"/>
                          </a:solidFill>
                          <a:latin typeface="Sarabun"/>
                          <a:ea typeface="Sarabun"/>
                          <a:cs typeface="Sarabun"/>
                        </a:rPr>
                        <a:t>Integration</a:t>
                      </a:r>
                    </a:p>
                  </a:txBody>
                  <a:tcPr marL="171450" marR="171450" marT="123825" marB="123825" anchor="ctr">
                    <a:solidFill>
                      <a:srgbClr val="EE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53347"/>
                          </a:solidFill>
                          <a:latin typeface="Sarabun"/>
                          <a:ea typeface="Sarabun"/>
                          <a:cs typeface="Sarabun"/>
                        </a:rPr>
                        <a:t>นำข้อมูลจากหน้างานเข้าสู่ดิจิทัล</a:t>
                      </a:r>
                    </a:p>
                  </a:txBody>
                  <a:tcPr marL="171450" marR="171450" marT="123825" marB="123825" anchor="ctr"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53347"/>
                          </a:solidFill>
                          <a:latin typeface="Sarabun"/>
                          <a:ea typeface="Sarabun"/>
                          <a:cs typeface="Sarabun"/>
                        </a:rPr>
                        <a:t>Asset</a:t>
                      </a:r>
                    </a:p>
                  </a:txBody>
                  <a:tcPr marL="171450" marR="171450" marT="123825" marB="123825" anchor="ctr">
                    <a:solidFill>
                      <a:srgbClr val="EE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53347"/>
                          </a:solidFill>
                          <a:latin typeface="Sarabun"/>
                          <a:ea typeface="Sarabun"/>
                          <a:cs typeface="Sarabun"/>
                        </a:rPr>
                        <a:t>เครื่องจักร มิเตอร์ และชิ้นงาน</a:t>
                      </a:r>
                    </a:p>
                  </a:txBody>
                  <a:tcPr marL="171450" marR="171450" marT="123825" marB="1238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ขอบเขตเริ่มต้น: ช่วงใช้งานเครื่องจริง  เชื่อมเครื่">
            <a:extLst xmlns:a="http://schemas.openxmlformats.org/drawingml/2006/main">
              <a:ext uri="{FF2B5EF4-FFF2-40B4-BE49-F238E27FC236}">
                <a16:creationId xmlns:a16="http://schemas.microsoft.com/office/drawing/2014/main" id="{B38708D3-C684-49D8-B6F2-9F98AF836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8165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9DDC"/>
                </a:solidFill>
                <a:latin typeface="Sarabun"/>
                <a:ea typeface="Sarabun"/>
                <a:cs typeface="Sarabun"/>
              </a:defRPr>
            </a:pPr>
            <a:r>
              <a:rPr sz="1875" b="1">
                <a:solidFill>
                  <a:srgbClr val="009DDC"/>
                </a:solidFill>
                <a:latin typeface="Sarabun"/>
                <a:ea typeface="Sarabun"/>
                <a:cs typeface="Sarabun"/>
              </a:rPr>
              <a:t>ขอบเขตเริ่มต้น: ช่วงใช้งานเครื่องจริง  เชื่อมเครื่อง ไลน์ และผู้รับผิดชอบ</a:t>
            </a:r>
          </a:p>
        </p:txBody>
      </p:sp>
      <p:sp>
        <p:nvSpPr>
          <p:cNvPr id="8" name="ภาพอ้างอิง: Plattform Industrie 4.0 / DKE   คำอธิบ">
            <a:extLst xmlns:a="http://schemas.openxmlformats.org/drawingml/2006/main">
              <a:ext uri="{FF2B5EF4-FFF2-40B4-BE49-F238E27FC236}">
                <a16:creationId xmlns:a16="http://schemas.microsoft.com/office/drawing/2014/main" id="{A391EDB8-37F5-40AA-9439-9BD1A68A2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29325"/>
            <a:ext cx="1097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7083"/>
                </a:solidFill>
                <a:latin typeface="Sarabun"/>
                <a:ea typeface="Sarabun"/>
                <a:cs typeface="Sarabun"/>
              </a:defRPr>
            </a:pPr>
            <a:r>
              <a:rPr sz="1350" b="0">
                <a:solidFill>
                  <a:srgbClr val="527083"/>
                </a:solidFill>
                <a:latin typeface="Sarabun"/>
                <a:ea typeface="Sarabun"/>
                <a:cs typeface="Sarabun"/>
              </a:rPr>
              <a:t>ภาพอ้างอิง: Plattform Industrie 4.0 / DKE   คำอธิบายขวาเป็นการประยุกต์กับ Pilot</a:t>
            </a:r>
          </a:p>
        </p:txBody>
      </p:sp>
    </p:spTree>
    <p:extLst>
      <p:ext uri="{BB962C8B-B14F-4D97-AF65-F5344CB8AC3E}">
        <p14:creationId xmlns:p14="http://schemas.microsoft.com/office/powerpoint/2010/main" val="187075527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5c6dc28e674c7f"/>
          <a:stretch xmlns:a="http://schemas.openxmlformats.org/drawingml/2006/main"/>
        </p:blipFill>
        <p:spPr>
          <a:xfrm xmlns:a="http://schemas.openxmlformats.org/drawingml/2006/main">
            <a:off x="9810750" y="419109"/>
            <a:ext cx="1714500" cy="269921"/>
          </a:xfrm>
          <a:prstGeom xmlns:a="http://schemas.openxmlformats.org/drawingml/2006/main" prst="rect">
            <a:avLst/>
          </a:prstGeom>
        </p:spPr>
      </p:pic>
      <p:sp>
        <p:nvSpPr>
          <p:cNvPr id="2" name="หลักวัดพลังงาน ต้นทุน และคาร์บอน">
            <a:extLst xmlns:a="http://schemas.openxmlformats.org/drawingml/2006/main">
              <a:ext uri="{FF2B5EF4-FFF2-40B4-BE49-F238E27FC236}">
                <a16:creationId xmlns:a16="http://schemas.microsoft.com/office/drawing/2014/main" id="{6610A710-5DA2-4ADC-86AE-18C09D914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53347"/>
                </a:solidFill>
                <a:latin typeface="Sarabun"/>
                <a:ea typeface="Sarabun"/>
                <a:cs typeface="Sarabun"/>
              </a:defRPr>
            </a:pPr>
            <a:r>
              <a:rPr sz="3300" b="1">
                <a:solidFill>
                  <a:srgbClr val="153347"/>
                </a:solidFill>
                <a:latin typeface="Sarabun"/>
                <a:ea typeface="Sarabun"/>
                <a:cs typeface="Sarabun"/>
              </a:rPr>
              <a:t>หลักวัดพลังงาน ต้นทุน และคาร์บอน</a:t>
            </a:r>
          </a:p>
        </p:txBody>
      </p:sp>
      <p:sp>
        <p:nvSpPr>
          <p:cNvPr id="3" name="ภาคผนวกสำหรับตอบคำถาม">
            <a:extLst xmlns:a="http://schemas.openxmlformats.org/drawingml/2006/main">
              <a:ext uri="{FF2B5EF4-FFF2-40B4-BE49-F238E27FC236}">
                <a16:creationId xmlns:a16="http://schemas.microsoft.com/office/drawing/2014/main" id="{131926EA-CCE1-401D-8F00-5ED7555D2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7083"/>
                </a:solidFill>
                <a:latin typeface="Sarabun"/>
                <a:ea typeface="Sarabun"/>
                <a:cs typeface="Sarabun"/>
              </a:defRPr>
            </a:pPr>
            <a:r>
              <a:rPr sz="1275" b="0">
                <a:solidFill>
                  <a:srgbClr val="527083"/>
                </a:solidFill>
                <a:latin typeface="Sarabun"/>
                <a:ea typeface="Sarabun"/>
                <a:cs typeface="Sarabun"/>
              </a:rPr>
              <a:t>ภาคผนวกสำหรับตอบคำถาม</a:t>
            </a:r>
          </a:p>
        </p:txBody>
      </p:sp>
      <p:sp>
        <p:nvSpPr>
          <p:cNvPr id="4" name="14">
            <a:extLst xmlns:a="http://schemas.openxmlformats.org/drawingml/2006/main">
              <a:ext uri="{FF2B5EF4-FFF2-40B4-BE49-F238E27FC236}">
                <a16:creationId xmlns:a16="http://schemas.microsoft.com/office/drawing/2014/main" id="{7620D9BA-42D0-4353-867C-51E729A6B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527083"/>
                </a:solidFill>
                <a:latin typeface="Sarabun"/>
                <a:ea typeface="Sarabun"/>
                <a:cs typeface="Sarabun"/>
              </a:defRPr>
            </a:pPr>
            <a:r>
              <a:rPr sz="1500" b="1">
                <a:solidFill>
                  <a:srgbClr val="527083"/>
                </a:solidFill>
                <a:latin typeface="Sarabun"/>
                <a:ea typeface="Sarabun"/>
                <a:cs typeface="Sarabun"/>
              </a:rPr>
              <a:t>14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724025"/>
          <a:ext xmlns:a="http://schemas.openxmlformats.org/drawingml/2006/main" cx="10972800" cy="3867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7829550"/>
              </a:tblGrid>
              <a:tr h="6000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Sarabun"/>
                          <a:ea typeface="Sarabun"/>
                          <a:cs typeface="Sarabun"/>
                        </a:rPr>
                        <a:t>สิ่งที่วัด</a:t>
                      </a:r>
                    </a:p>
                  </a:txBody>
                  <a:tcPr marL="171450" marR="171450" marT="123825" marB="123825" anchor="ctr">
                    <a:solidFill>
                      <a:srgbClr val="102C4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Sarabun"/>
                          <a:ea typeface="Sarabun"/>
                          <a:cs typeface="Sarabun"/>
                        </a:rPr>
                        <a:t>หลักคำนวณและเงื่อนไข</a:t>
                      </a:r>
                    </a:p>
                  </a:txBody>
                  <a:tcPr marL="171450" marR="171450" marT="123825" marB="123825" anchor="ctr">
                    <a:solidFill>
                      <a:srgbClr val="102C40"/>
                    </a:solidFill>
                  </a:tcPr>
                </a:tc>
              </a:tr>
              <a:tr h="10572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153347"/>
                          </a:solidFill>
                          <a:latin typeface="Sarabun"/>
                          <a:ea typeface="Sarabun"/>
                          <a:cs typeface="Sarabun"/>
                        </a:rPr>
                        <a:t>พลังงานที่ประหยัด</a:t>
                      </a:r>
                    </a:p>
                  </a:txBody>
                  <a:tcPr marL="171450" marR="171450" marT="123825" marB="123825" anchor="ctr">
                    <a:solidFill>
                      <a:srgbClr val="EE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>
                          <a:solidFill>
                            <a:srgbClr val="153347"/>
                          </a:solidFill>
                          <a:latin typeface="Sarabun"/>
                          <a:ea typeface="Sarabun"/>
                          <a:cs typeface="Sarabun"/>
                        </a:rPr>
                        <a:t>ไฟตามค่าฐานที่ปรับตามเงื่อนไขหลังทดลอง</a:t>
                      </a:r>
                    </a:p>
                    <a:p>
                      <a:r>
                        <a:rPr sz="2025">
                          <a:solidFill>
                            <a:srgbClr val="153347"/>
                          </a:solidFill>
                          <a:latin typeface="Sarabun"/>
                          <a:ea typeface="Sarabun"/>
                          <a:cs typeface="Sarabun"/>
                        </a:rPr>
                        <a:t>ลบไฟที่ใช้จริงหลังทดลอง</a:t>
                      </a:r>
                    </a:p>
                  </a:txBody>
                  <a:tcPr marL="171450" marR="171450" marT="123825" marB="123825" anchor="ctr">
                    <a:solidFill>
                      <a:srgbClr val="FFFFFF"/>
                    </a:solidFill>
                  </a:tcPr>
                </a:tc>
              </a:tr>
              <a:tr h="10572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153347"/>
                          </a:solidFill>
                          <a:latin typeface="Sarabun"/>
                          <a:ea typeface="Sarabun"/>
                          <a:cs typeface="Sarabun"/>
                        </a:rPr>
                        <a:t>เงินที่ประหยัด</a:t>
                      </a:r>
                    </a:p>
                  </a:txBody>
                  <a:tcPr marL="171450" marR="171450" marT="123825" marB="123825" anchor="ctr">
                    <a:solidFill>
                      <a:srgbClr val="EE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>
                          <a:solidFill>
                            <a:srgbClr val="153347"/>
                          </a:solidFill>
                          <a:latin typeface="Sarabun"/>
                          <a:ea typeface="Sarabun"/>
                          <a:cs typeface="Sarabun"/>
                        </a:rPr>
                        <a:t>ค่าไฟส่วนที่เปลี่ยนจริงตามโครงสร้างอัตรา</a:t>
                      </a:r>
                    </a:p>
                    <a:p>
                      <a:r>
                        <a:rPr sz="2025">
                          <a:solidFill>
                            <a:srgbClr val="153347"/>
                          </a:solidFill>
                          <a:latin typeface="Sarabun"/>
                          <a:ea typeface="Sarabun"/>
                          <a:cs typeface="Sarabun"/>
                        </a:rPr>
                        <a:t>หักค่าใช้จ่ายเพิ่มที่เกี่ยวข้อง</a:t>
                      </a:r>
                    </a:p>
                  </a:txBody>
                  <a:tcPr marL="171450" marR="171450" marT="123825" marB="123825" anchor="ctr">
                    <a:solidFill>
                      <a:srgbClr val="FFFFFF"/>
                    </a:solidFill>
                  </a:tcPr>
                </a:tc>
              </a:tr>
              <a:tr h="11525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153347"/>
                          </a:solidFill>
                          <a:latin typeface="Sarabun"/>
                          <a:ea typeface="Sarabun"/>
                          <a:cs typeface="Sarabun"/>
                        </a:rPr>
                        <a:t>Scope 2 จากไฟฟ้า</a:t>
                      </a:r>
                    </a:p>
                  </a:txBody>
                  <a:tcPr marL="171450" marR="171450" marT="123825" marB="123825" anchor="ctr">
                    <a:solidFill>
                      <a:srgbClr val="EE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>
                          <a:solidFill>
                            <a:srgbClr val="153347"/>
                          </a:solidFill>
                          <a:latin typeface="Sarabun"/>
                          <a:ea typeface="Sarabun"/>
                          <a:cs typeface="Sarabun"/>
                        </a:rPr>
                        <a:t>kWh × ค่าการปล่อย (kgCO2e/kWh) ÷ 1,000</a:t>
                      </a:r>
                    </a:p>
                    <a:p>
                      <a:r>
                        <a:rPr sz="2025">
                          <a:solidFill>
                            <a:srgbClr val="153347"/>
                          </a:solidFill>
                          <a:latin typeface="Sarabun"/>
                          <a:ea typeface="Sarabun"/>
                          <a:cs typeface="Sarabun"/>
                        </a:rPr>
                        <a:t>ได้ tCO2e  ระบุแหล่งค่า ปี และวิธีบัญชี</a:t>
                      </a:r>
                    </a:p>
                  </a:txBody>
                  <a:tcPr marL="171450" marR="171450" marT="123825" marB="1238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แยกผลเทียบค่าฐานออกจากยอดปล่อยจริงขององค์กร และป้อ">
            <a:extLst xmlns:a="http://schemas.openxmlformats.org/drawingml/2006/main">
              <a:ext uri="{FF2B5EF4-FFF2-40B4-BE49-F238E27FC236}">
                <a16:creationId xmlns:a16="http://schemas.microsoft.com/office/drawing/2014/main" id="{CEEC8BB0-162F-444D-8B15-8E61D9575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10972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9DDC"/>
                </a:solidFill>
                <a:latin typeface="Sarabun"/>
                <a:ea typeface="Sarabun"/>
                <a:cs typeface="Sarabun"/>
              </a:defRPr>
            </a:pPr>
            <a:r>
              <a:rPr sz="1875" b="1">
                <a:solidFill>
                  <a:srgbClr val="009DDC"/>
                </a:solidFill>
                <a:latin typeface="Sarabun"/>
                <a:ea typeface="Sarabun"/>
                <a:cs typeface="Sarabun"/>
              </a:rPr>
              <a:t>แยกผลเทียบค่าฐานออกจากยอดปล่อยจริงขององค์กร และป้องกันการนับซ้ำ</a:t>
            </a:r>
          </a:p>
        </p:txBody>
      </p:sp>
    </p:spTree>
    <p:extLst>
      <p:ext uri="{BB962C8B-B14F-4D97-AF65-F5344CB8AC3E}">
        <p14:creationId xmlns:p14="http://schemas.microsoft.com/office/powerpoint/2010/main" val="111791420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4555f65e6e4e50"/>
          <a:stretch xmlns:a="http://schemas.openxmlformats.org/drawingml/2006/main"/>
        </p:blipFill>
        <p:spPr>
          <a:xfrm xmlns:a="http://schemas.openxmlformats.org/drawingml/2006/main">
            <a:off x="9810750" y="419109"/>
            <a:ext cx="1714500" cy="269921"/>
          </a:xfrm>
          <a:prstGeom xmlns:a="http://schemas.openxmlformats.org/drawingml/2006/main" prst="rect">
            <a:avLst/>
          </a:prstGeom>
        </p:spPr>
      </p:pic>
      <p:sp>
        <p:nvSpPr>
          <p:cNvPr id="2" name="บทสนทนาแรกกับ Business">
            <a:extLst xmlns:a="http://schemas.openxmlformats.org/drawingml/2006/main">
              <a:ext uri="{FF2B5EF4-FFF2-40B4-BE49-F238E27FC236}">
                <a16:creationId xmlns:a16="http://schemas.microsoft.com/office/drawing/2014/main" id="{8968668E-C756-4EEC-B9DA-CC20044ED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53347"/>
                </a:solidFill>
                <a:latin typeface="Sarabun"/>
                <a:ea typeface="Sarabun"/>
                <a:cs typeface="Sarabun"/>
              </a:defRPr>
            </a:pPr>
            <a:r>
              <a:rPr sz="3300" b="1">
                <a:solidFill>
                  <a:srgbClr val="153347"/>
                </a:solidFill>
                <a:latin typeface="Sarabun"/>
                <a:ea typeface="Sarabun"/>
                <a:cs typeface="Sarabun"/>
              </a:rPr>
              <a:t>บทสนทนาแรกกับ Business</a:t>
            </a:r>
          </a:p>
        </p:txBody>
      </p:sp>
      <p:sp>
        <p:nvSpPr>
          <p:cNvPr id="3" name="ภาคผนวกสำหรับตอบคำถาม">
            <a:extLst xmlns:a="http://schemas.openxmlformats.org/drawingml/2006/main">
              <a:ext uri="{FF2B5EF4-FFF2-40B4-BE49-F238E27FC236}">
                <a16:creationId xmlns:a16="http://schemas.microsoft.com/office/drawing/2014/main" id="{CD3D0738-B9D8-4520-AB44-D05B2E34D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7083"/>
                </a:solidFill>
                <a:latin typeface="Sarabun"/>
                <a:ea typeface="Sarabun"/>
                <a:cs typeface="Sarabun"/>
              </a:defRPr>
            </a:pPr>
            <a:r>
              <a:rPr sz="1275" b="0">
                <a:solidFill>
                  <a:srgbClr val="527083"/>
                </a:solidFill>
                <a:latin typeface="Sarabun"/>
                <a:ea typeface="Sarabun"/>
                <a:cs typeface="Sarabun"/>
              </a:rPr>
              <a:t>ภาคผนวกสำหรับตอบคำถาม</a:t>
            </a:r>
          </a:p>
        </p:txBody>
      </p:sp>
      <p:sp>
        <p:nvSpPr>
          <p:cNvPr id="4" name="15">
            <a:extLst xmlns:a="http://schemas.openxmlformats.org/drawingml/2006/main">
              <a:ext uri="{FF2B5EF4-FFF2-40B4-BE49-F238E27FC236}">
                <a16:creationId xmlns:a16="http://schemas.microsoft.com/office/drawing/2014/main" id="{7A0D60EC-3635-40AC-A83B-AED25FC32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527083"/>
                </a:solidFill>
                <a:latin typeface="Sarabun"/>
                <a:ea typeface="Sarabun"/>
                <a:cs typeface="Sarabun"/>
              </a:defRPr>
            </a:pPr>
            <a:r>
              <a:rPr sz="1500" b="1">
                <a:solidFill>
                  <a:srgbClr val="527083"/>
                </a:solidFill>
                <a:latin typeface="Sarabun"/>
                <a:ea typeface="Sarabun"/>
                <a:cs typeface="Sarabun"/>
              </a:rPr>
              <a:t>15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695450"/>
          <a:ext xmlns:a="http://schemas.openxmlformats.org/drawingml/2006/main" cx="10972800" cy="3886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90875"/>
                <a:gridCol w="7781925"/>
              </a:tblGrid>
              <a:tr h="5715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Sarabun"/>
                          <a:ea typeface="Sarabun"/>
                          <a:cs typeface="Sarabun"/>
                        </a:rPr>
                        <a:t>สิ่งที่นำมาคุย</a:t>
                      </a:r>
                    </a:p>
                  </a:txBody>
                  <a:tcPr marL="171450" marR="171450" marT="123825" marB="123825" anchor="ctr">
                    <a:solidFill>
                      <a:srgbClr val="102C4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Sarabun"/>
                          <a:ea typeface="Sarabun"/>
                          <a:cs typeface="Sarabun"/>
                        </a:rPr>
                        <a:t>ตัวอย่าง</a:t>
                      </a:r>
                    </a:p>
                  </a:txBody>
                  <a:tcPr marL="171450" marR="171450" marT="123825" marB="123825" anchor="ctr">
                    <a:solidFill>
                      <a:srgbClr val="102C40"/>
                    </a:solidFill>
                  </a:tcPr>
                </a:tc>
              </a:tr>
              <a:tr h="7905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153347"/>
                          </a:solidFill>
                          <a:latin typeface="Sarabun"/>
                          <a:ea typeface="Sarabun"/>
                          <a:cs typeface="Sarabun"/>
                        </a:rPr>
                        <a:t>ปัญหาและขอบเขต</a:t>
                      </a:r>
                    </a:p>
                  </a:txBody>
                  <a:tcPr marL="171450" marR="171450" marT="123825" marB="123825" anchor="ctr">
                    <a:solidFill>
                      <a:srgbClr val="EE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>
                          <a:solidFill>
                            <a:srgbClr val="153347"/>
                          </a:solidFill>
                          <a:latin typeface="Sarabun"/>
                          <a:ea typeface="Sarabun"/>
                          <a:cs typeface="Sarabun"/>
                        </a:rPr>
                        <a:t>หนึ่งไลน์ เครื่องที่เกี่ยวข้อง และเหตุผลที่อยากเริ่ม</a:t>
                      </a:r>
                    </a:p>
                  </a:txBody>
                  <a:tcPr marL="171450" marR="171450" marT="123825" marB="123825" anchor="ctr">
                    <a:solidFill>
                      <a:srgbClr val="FFFFFF"/>
                    </a:solidFill>
                  </a:tcPr>
                </a:tc>
              </a:tr>
              <a:tr h="7905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153347"/>
                          </a:solidFill>
                          <a:latin typeface="Sarabun"/>
                          <a:ea typeface="Sarabun"/>
                          <a:cs typeface="Sarabun"/>
                        </a:rPr>
                        <a:t>ข้อมูลที่มีอยู่</a:t>
                      </a:r>
                    </a:p>
                  </a:txBody>
                  <a:tcPr marL="171450" marR="171450" marT="123825" marB="123825" anchor="ctr">
                    <a:solidFill>
                      <a:srgbClr val="EE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>
                          <a:solidFill>
                            <a:srgbClr val="153347"/>
                          </a:solidFill>
                          <a:latin typeface="Sarabun"/>
                          <a:ea typeface="Sarabun"/>
                          <a:cs typeface="Sarabun"/>
                        </a:rPr>
                        <a:t>มิเตอร์ สถานะเครื่อง รุ่นสินค้า ผลผลิต และคุณภาพ</a:t>
                      </a:r>
                    </a:p>
                  </a:txBody>
                  <a:tcPr marL="171450" marR="171450" marT="123825" marB="123825" anchor="ctr">
                    <a:solidFill>
                      <a:srgbClr val="FFFFFF"/>
                    </a:solidFill>
                  </a:tcPr>
                </a:tc>
              </a:tr>
              <a:tr h="8667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153347"/>
                          </a:solidFill>
                          <a:latin typeface="Sarabun"/>
                          <a:ea typeface="Sarabun"/>
                          <a:cs typeface="Sarabun"/>
                        </a:rPr>
                        <a:t>คนและเวลาร่วมทำ</a:t>
                      </a:r>
                    </a:p>
                  </a:txBody>
                  <a:tcPr marL="171450" marR="171450" marT="123825" marB="123825" anchor="ctr">
                    <a:solidFill>
                      <a:srgbClr val="EE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>
                          <a:solidFill>
                            <a:srgbClr val="153347"/>
                          </a:solidFill>
                          <a:latin typeface="Sarabun"/>
                          <a:ea typeface="Sarabun"/>
                          <a:cs typeface="Sarabun"/>
                        </a:rPr>
                        <a:t>เจ้าของไลน์ ผู้รู้กระบวนการ ผู้ดูแลข้อมูล และเวลาที่พร้อม</a:t>
                      </a:r>
                    </a:p>
                  </a:txBody>
                  <a:tcPr marL="171450" marR="171450" marT="123825" marB="123825" anchor="ctr">
                    <a:solidFill>
                      <a:srgbClr val="FFFFFF"/>
                    </a:solidFill>
                  </a:tcPr>
                </a:tc>
              </a:tr>
              <a:tr h="8667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153347"/>
                          </a:solidFill>
                          <a:latin typeface="Sarabun"/>
                          <a:ea typeface="Sarabun"/>
                          <a:cs typeface="Sarabun"/>
                        </a:rPr>
                        <a:t>เงื่อนไขรักษางาน</a:t>
                      </a:r>
                    </a:p>
                  </a:txBody>
                  <a:tcPr marL="171450" marR="171450" marT="123825" marB="123825" anchor="ctr">
                    <a:solidFill>
                      <a:srgbClr val="EE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>
                          <a:solidFill>
                            <a:srgbClr val="153347"/>
                          </a:solidFill>
                          <a:latin typeface="Sarabun"/>
                          <a:ea typeface="Sarabun"/>
                          <a:cs typeface="Sarabun"/>
                        </a:rPr>
                        <a:t>คุณภาพ กำลังผลิต ความปลอดภัย และผู้อนุมัติการเปลี่ยน</a:t>
                      </a:r>
                    </a:p>
                  </a:txBody>
                  <a:tcPr marL="171450" marR="171450" marT="123825" marB="1238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เดินต่อเมื่อวัดและทดลองได้ปลอดภัย  ปรับเมื่อข้อมูล">
            <a:extLst xmlns:a="http://schemas.openxmlformats.org/drawingml/2006/main">
              <a:ext uri="{FF2B5EF4-FFF2-40B4-BE49-F238E27FC236}">
                <a16:creationId xmlns:a16="http://schemas.microsoft.com/office/drawing/2014/main" id="{1E600DCC-82AC-474F-8C81-4EE11FBAA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9728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9DDC"/>
                </a:solidFill>
                <a:latin typeface="Sarabun"/>
                <a:ea typeface="Sarabun"/>
                <a:cs typeface="Sarabun"/>
              </a:defRPr>
            </a:pPr>
            <a:r>
              <a:rPr sz="1800" b="1">
                <a:solidFill>
                  <a:srgbClr val="009DDC"/>
                </a:solidFill>
                <a:latin typeface="Sarabun"/>
                <a:ea typeface="Sarabun"/>
                <a:cs typeface="Sarabun"/>
              </a:rPr>
              <a:t>เดินต่อเมื่อวัดและทดลองได้ปลอดภัย  ปรับเมื่อข้อมูลไม่พอ</a:t>
            </a:r>
          </a:p>
          <a:p xmlns:a="http://schemas.openxmlformats.org/drawingml/2006/main">
            <a:pPr algn="l">
              <a:defRPr sz="1800" b="1">
                <a:solidFill>
                  <a:srgbClr val="009DDC"/>
                </a:solidFill>
                <a:latin typeface="Sarabun"/>
                <a:ea typeface="Sarabun"/>
                <a:cs typeface="Sarabun"/>
              </a:defRPr>
            </a:pPr>
            <a:r>
              <a:rPr sz="1800" b="1">
                <a:solidFill>
                  <a:srgbClr val="009DDC"/>
                </a:solidFill>
                <a:latin typeface="Sarabun"/>
                <a:ea typeface="Sarabun"/>
                <a:cs typeface="Sarabun"/>
              </a:rPr>
              <a:t>เปลี่ยนโจทย์เมื่อผลคาดหวังเล็กหรือเสี่ยงกระทบการผลิต</a:t>
            </a:r>
          </a:p>
        </p:txBody>
      </p:sp>
    </p:spTree>
    <p:extLst>
      <p:ext uri="{BB962C8B-B14F-4D97-AF65-F5344CB8AC3E}">
        <p14:creationId xmlns:p14="http://schemas.microsoft.com/office/powerpoint/2010/main" val="2533494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เอกสาร" ma:contentTypeID="0x010100DD0475AB8945FE43816720F9D329480E" ma:contentTypeVersion="9" ma:contentTypeDescription="สร้างเอกสารใหม่" ma:contentTypeScope="" ma:versionID="f3111e5a2cd55f1b31329b4ae57ef00a">
  <xsd:schema xmlns:xsd="http://www.w3.org/2001/XMLSchema" xmlns:xs="http://www.w3.org/2001/XMLSchema" xmlns:p="http://schemas.microsoft.com/office/2006/metadata/properties" xmlns:ns2="9aaadd62-0e18-4c04-bf47-548317282f00" xmlns:ns3="2f47d437-25f5-4647-aaac-4742d0ef4768" targetNamespace="http://schemas.microsoft.com/office/2006/metadata/properties" ma:root="true" ma:fieldsID="c9354b6d4f04084d9d5b9b0c709b0294" ns2:_="" ns3:_="">
    <xsd:import namespace="9aaadd62-0e18-4c04-bf47-548317282f00"/>
    <xsd:import namespace="2f47d437-25f5-4647-aaac-4742d0ef476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aaadd62-0e18-4c04-bf47-548317282f0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แท็กรูป" ma:readOnly="false" ma:fieldId="{5cf76f15-5ced-4ddc-b409-7134ff3c332f}" ma:taxonomyMulti="true" ma:sspId="d75a37a9-5243-4c6f-8b88-701ebc899a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f47d437-25f5-4647-aaac-4742d0ef4768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3f7d91d5-345d-4613-8040-65061f556905}" ma:internalName="TaxCatchAll" ma:showField="CatchAllData" ma:web="2f47d437-25f5-4647-aaac-4742d0ef476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ชนิดเนื้อหา"/>
        <xsd:element ref="dc:title" minOccurs="0" maxOccurs="1" ma:index="4" ma:displayName="ชื่อเรื่อง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f47d437-25f5-4647-aaac-4742d0ef4768" xsi:nil="true"/>
    <lcf76f155ced4ddcb4097134ff3c332f xmlns="9aaadd62-0e18-4c04-bf47-548317282f00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2FF35728-B33B-4F33-BD7A-E6296A0B197E}"/>
</file>

<file path=customXml/itemProps2.xml><?xml version="1.0" encoding="utf-8"?>
<ds:datastoreItem xmlns:ds="http://schemas.openxmlformats.org/officeDocument/2006/customXml" ds:itemID="{7E0179B3-E641-42E8-B896-319E85E6CC11}"/>
</file>

<file path=customXml/itemProps3.xml><?xml version="1.0" encoding="utf-8"?>
<ds:datastoreItem xmlns:ds="http://schemas.openxmlformats.org/officeDocument/2006/customXml" ds:itemID="{25AF0000-EC9C-485F-8490-B6DC730A1E0F}"/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Walnut Exporter</cp:lastModifiedBy>
  <dcterms:created xsi:type="dcterms:W3CDTF">2026-09-28T05:48:25Z</dcterms:created>
  <dcterms:modified xsi:type="dcterms:W3CDTF">2026-09-28T05:48:25Z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0x010100DD0475AB8945FE43816720F9D329480E</vt:lpwstr>
  </property>
</Properties>
</file>